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9" r:id="rId4"/>
    <p:sldId id="260" r:id="rId5"/>
    <p:sldId id="261" r:id="rId6"/>
    <p:sldId id="262" r:id="rId7"/>
    <p:sldId id="264" r:id="rId8"/>
    <p:sldId id="265" r:id="rId9"/>
    <p:sldId id="267" r:id="rId10"/>
    <p:sldId id="266" r:id="rId11"/>
    <p:sldId id="268" r:id="rId12"/>
    <p:sldId id="270" r:id="rId13"/>
  </p:sldIdLst>
  <p:sldSz cx="18288000" cy="10287000"/>
  <p:notesSz cx="6858000" cy="9144000"/>
  <p:embeddedFontLst>
    <p:embeddedFont>
      <p:font typeface="Archivo Black" panose="020B0604020202020204" charset="0"/>
      <p:regular r:id="rId14"/>
    </p:embeddedFont>
    <p:embeddedFont>
      <p:font typeface="Garet" panose="020B0604020202020204" charset="0"/>
      <p:regular r:id="rId15"/>
    </p:embeddedFont>
    <p:embeddedFont>
      <p:font typeface="Garet Bold" panose="020B0604020202020204" charset="0"/>
      <p:regular r:id="rId16"/>
    </p:embeddedFont>
    <p:embeddedFont>
      <p:font typeface="Garet Bold Italics"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2" autoAdjust="0"/>
  </p:normalViewPr>
  <p:slideViewPr>
    <p:cSldViewPr>
      <p:cViewPr varScale="1">
        <p:scale>
          <a:sx n="51" d="100"/>
          <a:sy n="51" d="100"/>
        </p:scale>
        <p:origin x="926"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01-Feb-25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01-Feb-25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01-Feb-25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01-Feb-25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01-Feb-25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01-Feb-25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01-Feb-25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01-Feb-25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01-Feb-25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01-Feb-25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01-Feb-25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01-Feb-25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9.pn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7.png"/><Relationship Id="rId7"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Freeform 3"/>
          <p:cNvSpPr/>
          <p:nvPr/>
        </p:nvSpPr>
        <p:spPr>
          <a:xfrm rot="5400000">
            <a:off x="-3277961" y="5050172"/>
            <a:ext cx="6555922" cy="3301800"/>
          </a:xfrm>
          <a:custGeom>
            <a:avLst/>
            <a:gdLst/>
            <a:ahLst/>
            <a:cxnLst/>
            <a:rect l="l" t="t" r="r" b="b"/>
            <a:pathLst>
              <a:path w="6555922" h="3301800">
                <a:moveTo>
                  <a:pt x="0" y="0"/>
                </a:moveTo>
                <a:lnTo>
                  <a:pt x="6555922" y="0"/>
                </a:lnTo>
                <a:lnTo>
                  <a:pt x="6555922" y="3301801"/>
                </a:lnTo>
                <a:lnTo>
                  <a:pt x="0" y="330180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4" name="Group 4"/>
          <p:cNvGrpSpPr/>
          <p:nvPr/>
        </p:nvGrpSpPr>
        <p:grpSpPr>
          <a:xfrm>
            <a:off x="-788430" y="-508924"/>
            <a:ext cx="2265666" cy="2263265"/>
            <a:chOff x="0" y="0"/>
            <a:chExt cx="3020888" cy="3017687"/>
          </a:xfrm>
        </p:grpSpPr>
        <p:sp>
          <p:nvSpPr>
            <p:cNvPr id="5" name="Freeform 5"/>
            <p:cNvSpPr/>
            <p:nvPr/>
          </p:nvSpPr>
          <p:spPr>
            <a:xfrm rot="-5400000">
              <a:off x="-748935" y="748935"/>
              <a:ext cx="3017687" cy="1519817"/>
            </a:xfrm>
            <a:custGeom>
              <a:avLst/>
              <a:gdLst/>
              <a:ahLst/>
              <a:cxnLst/>
              <a:rect l="l" t="t" r="r" b="b"/>
              <a:pathLst>
                <a:path w="3017687" h="1519817">
                  <a:moveTo>
                    <a:pt x="0" y="0"/>
                  </a:moveTo>
                  <a:lnTo>
                    <a:pt x="3017687" y="0"/>
                  </a:lnTo>
                  <a:lnTo>
                    <a:pt x="3017687" y="1519817"/>
                  </a:lnTo>
                  <a:lnTo>
                    <a:pt x="0" y="1519817"/>
                  </a:lnTo>
                  <a:lnTo>
                    <a:pt x="0" y="0"/>
                  </a:lnTo>
                  <a:close/>
                </a:path>
              </a:pathLst>
            </a:custGeom>
            <a:blipFill>
              <a:blip r:embed="rId3">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5478197">
              <a:off x="757973" y="771700"/>
              <a:ext cx="2965326" cy="1493446"/>
            </a:xfrm>
            <a:custGeom>
              <a:avLst/>
              <a:gdLst/>
              <a:ahLst/>
              <a:cxnLst/>
              <a:rect l="l" t="t" r="r" b="b"/>
              <a:pathLst>
                <a:path w="2965326" h="1493446">
                  <a:moveTo>
                    <a:pt x="0" y="0"/>
                  </a:moveTo>
                  <a:lnTo>
                    <a:pt x="2965326" y="0"/>
                  </a:lnTo>
                  <a:lnTo>
                    <a:pt x="2965326" y="1493446"/>
                  </a:lnTo>
                  <a:lnTo>
                    <a:pt x="0" y="1493446"/>
                  </a:lnTo>
                  <a:lnTo>
                    <a:pt x="0" y="0"/>
                  </a:lnTo>
                  <a:close/>
                </a:path>
              </a:pathLst>
            </a:custGeom>
            <a:blipFill>
              <a:blip r:embed="rId3">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grpSp>
      <p:sp>
        <p:nvSpPr>
          <p:cNvPr id="7" name="Freeform 7"/>
          <p:cNvSpPr/>
          <p:nvPr/>
        </p:nvSpPr>
        <p:spPr>
          <a:xfrm>
            <a:off x="114300" y="-38100"/>
            <a:ext cx="4702708" cy="1002030"/>
          </a:xfrm>
          <a:custGeom>
            <a:avLst/>
            <a:gdLst/>
            <a:ahLst/>
            <a:cxnLst/>
            <a:rect l="l" t="t" r="r" b="b"/>
            <a:pathLst>
              <a:path w="4702708" h="1002030">
                <a:moveTo>
                  <a:pt x="0" y="0"/>
                </a:moveTo>
                <a:lnTo>
                  <a:pt x="4702708" y="0"/>
                </a:lnTo>
                <a:lnTo>
                  <a:pt x="4702708" y="1002030"/>
                </a:lnTo>
                <a:lnTo>
                  <a:pt x="0" y="1002030"/>
                </a:lnTo>
                <a:lnTo>
                  <a:pt x="0" y="0"/>
                </a:lnTo>
                <a:close/>
              </a:path>
            </a:pathLst>
          </a:custGeom>
          <a:blipFill>
            <a:blip r:embed="rId5"/>
            <a:stretch>
              <a:fillRect/>
            </a:stretch>
          </a:blipFill>
        </p:spPr>
        <p:txBody>
          <a:bodyPr/>
          <a:lstStyle/>
          <a:p>
            <a:endParaRPr lang="en-US"/>
          </a:p>
        </p:txBody>
      </p:sp>
      <p:sp>
        <p:nvSpPr>
          <p:cNvPr id="8" name="TextBox 8"/>
          <p:cNvSpPr txBox="1"/>
          <p:nvPr/>
        </p:nvSpPr>
        <p:spPr>
          <a:xfrm>
            <a:off x="5150383" y="2182966"/>
            <a:ext cx="7201028" cy="1228324"/>
          </a:xfrm>
          <a:prstGeom prst="rect">
            <a:avLst/>
          </a:prstGeom>
        </p:spPr>
        <p:txBody>
          <a:bodyPr lIns="0" tIns="0" rIns="0" bIns="0" rtlCol="0" anchor="t">
            <a:spAutoFit/>
          </a:bodyPr>
          <a:lstStyle/>
          <a:p>
            <a:pPr marL="0" lvl="0" indent="0" algn="r">
              <a:lnSpc>
                <a:spcPts val="8490"/>
              </a:lnSpc>
              <a:spcBef>
                <a:spcPct val="0"/>
              </a:spcBef>
            </a:pPr>
            <a:r>
              <a:rPr lang="en-US" sz="10885" spc="-859" dirty="0">
                <a:solidFill>
                  <a:srgbClr val="000000"/>
                </a:solidFill>
                <a:latin typeface="Archivo Black"/>
                <a:ea typeface="Archivo Black"/>
                <a:cs typeface="Archivo Black"/>
                <a:sym typeface="Archivo Black"/>
              </a:rPr>
              <a:t>PROJECT:</a:t>
            </a:r>
          </a:p>
        </p:txBody>
      </p:sp>
      <p:sp>
        <p:nvSpPr>
          <p:cNvPr id="12" name="TextBox 12"/>
          <p:cNvSpPr txBox="1"/>
          <p:nvPr/>
        </p:nvSpPr>
        <p:spPr>
          <a:xfrm>
            <a:off x="5334000" y="5524500"/>
            <a:ext cx="7667014" cy="500137"/>
          </a:xfrm>
          <a:prstGeom prst="rect">
            <a:avLst/>
          </a:prstGeom>
        </p:spPr>
        <p:txBody>
          <a:bodyPr lIns="0" tIns="0" rIns="0" bIns="0" rtlCol="0" anchor="t">
            <a:spAutoFit/>
          </a:bodyPr>
          <a:lstStyle/>
          <a:p>
            <a:pPr marL="0" lvl="0" indent="0" algn="l">
              <a:lnSpc>
                <a:spcPts val="3896"/>
              </a:lnSpc>
              <a:spcBef>
                <a:spcPct val="0"/>
              </a:spcBef>
            </a:pPr>
            <a:r>
              <a:rPr lang="en-US" sz="3190" b="1" dirty="0">
                <a:solidFill>
                  <a:srgbClr val="2B2B2B"/>
                </a:solidFill>
                <a:latin typeface="Garet Bold"/>
                <a:ea typeface="Garet Bold"/>
                <a:cs typeface="Garet Bold"/>
                <a:sym typeface="Garet Bold"/>
              </a:rPr>
              <a:t>PRESENTED TO:</a:t>
            </a:r>
          </a:p>
        </p:txBody>
      </p:sp>
      <p:sp>
        <p:nvSpPr>
          <p:cNvPr id="13" name="TextBox 13"/>
          <p:cNvSpPr txBox="1"/>
          <p:nvPr/>
        </p:nvSpPr>
        <p:spPr>
          <a:xfrm>
            <a:off x="5486400" y="5680085"/>
            <a:ext cx="7667014" cy="2875724"/>
          </a:xfrm>
          <a:prstGeom prst="rect">
            <a:avLst/>
          </a:prstGeom>
        </p:spPr>
        <p:txBody>
          <a:bodyPr lIns="0" tIns="0" rIns="0" bIns="0" rtlCol="0" anchor="t">
            <a:spAutoFit/>
          </a:bodyPr>
          <a:lstStyle/>
          <a:p>
            <a:pPr algn="l">
              <a:lnSpc>
                <a:spcPts val="4546"/>
              </a:lnSpc>
            </a:pPr>
            <a:endParaRPr dirty="0"/>
          </a:p>
          <a:p>
            <a:pPr algn="l">
              <a:lnSpc>
                <a:spcPts val="4546"/>
              </a:lnSpc>
            </a:pPr>
            <a:r>
              <a:rPr lang="en-US" sz="3497" b="1" dirty="0">
                <a:solidFill>
                  <a:srgbClr val="2B2B2B"/>
                </a:solidFill>
                <a:latin typeface="Garet Bold"/>
                <a:ea typeface="Garet Bold"/>
                <a:cs typeface="Garet Bold"/>
                <a:sym typeface="Garet Bold"/>
              </a:rPr>
              <a:t>Dr. Mohammad Salah Uddin</a:t>
            </a:r>
          </a:p>
          <a:p>
            <a:pPr algn="l">
              <a:lnSpc>
                <a:spcPts val="4546"/>
              </a:lnSpc>
            </a:pPr>
            <a:r>
              <a:rPr lang="en-US" sz="3000" dirty="0">
                <a:solidFill>
                  <a:srgbClr val="2B2B2B"/>
                </a:solidFill>
                <a:latin typeface="Garet Bold"/>
                <a:ea typeface="Garet Bold"/>
                <a:cs typeface="Garet Bold"/>
                <a:sym typeface="Garet Bold"/>
              </a:rPr>
              <a:t>Associate Professor</a:t>
            </a:r>
          </a:p>
          <a:p>
            <a:pPr algn="l">
              <a:lnSpc>
                <a:spcPts val="4546"/>
              </a:lnSpc>
            </a:pPr>
            <a:r>
              <a:rPr lang="en-US" sz="3000" dirty="0">
                <a:solidFill>
                  <a:srgbClr val="2B2B2B"/>
                </a:solidFill>
                <a:latin typeface="Garet Bold"/>
                <a:ea typeface="Garet Bold"/>
                <a:cs typeface="Garet Bold"/>
                <a:sym typeface="Garet Bold"/>
              </a:rPr>
              <a:t>Department of Computer Science &amp; Engineering</a:t>
            </a:r>
          </a:p>
        </p:txBody>
      </p:sp>
      <p:sp>
        <p:nvSpPr>
          <p:cNvPr id="14" name="TextBox 14"/>
          <p:cNvSpPr txBox="1"/>
          <p:nvPr/>
        </p:nvSpPr>
        <p:spPr>
          <a:xfrm>
            <a:off x="3503374" y="3451687"/>
            <a:ext cx="10837816" cy="1065676"/>
          </a:xfrm>
          <a:prstGeom prst="rect">
            <a:avLst/>
          </a:prstGeom>
        </p:spPr>
        <p:txBody>
          <a:bodyPr lIns="0" tIns="0" rIns="0" bIns="0" rtlCol="0" anchor="t">
            <a:spAutoFit/>
          </a:bodyPr>
          <a:lstStyle/>
          <a:p>
            <a:pPr algn="ctr">
              <a:lnSpc>
                <a:spcPts val="4172"/>
              </a:lnSpc>
            </a:pPr>
            <a:r>
              <a:rPr lang="en-US" sz="2980" b="1" dirty="0">
                <a:solidFill>
                  <a:srgbClr val="000000"/>
                </a:solidFill>
                <a:latin typeface="Garet Bold"/>
                <a:ea typeface="Garet Bold"/>
                <a:cs typeface="Garet Bold"/>
                <a:sym typeface="Garet Bold"/>
              </a:rPr>
              <a:t>&gt;&gt;Determine number of edges , vertices in the undirected graph using </a:t>
            </a:r>
            <a:r>
              <a:rPr lang="en-US" sz="3200" b="1" dirty="0">
                <a:solidFill>
                  <a:srgbClr val="000000"/>
                </a:solidFill>
                <a:latin typeface="Garet Bold"/>
                <a:ea typeface="Garet Bold"/>
                <a:cs typeface="Garet Bold"/>
                <a:sym typeface="Garet Bold"/>
              </a:rPr>
              <a:t>adjacency matrix</a:t>
            </a:r>
            <a:r>
              <a:rPr lang="en-US" sz="2980" b="1" dirty="0">
                <a:solidFill>
                  <a:srgbClr val="000000"/>
                </a:solidFill>
                <a:latin typeface="Garet Bold"/>
                <a:ea typeface="Garet Bold"/>
                <a:cs typeface="Garet Bold"/>
                <a:sym typeface="Garet Bold"/>
              </a:rPr>
              <a:t>. </a:t>
            </a:r>
          </a:p>
        </p:txBody>
      </p:sp>
      <p:sp>
        <p:nvSpPr>
          <p:cNvPr id="15" name="Freeform 15"/>
          <p:cNvSpPr/>
          <p:nvPr/>
        </p:nvSpPr>
        <p:spPr>
          <a:xfrm rot="-5400000">
            <a:off x="14975457" y="5156672"/>
            <a:ext cx="5902787" cy="2972858"/>
          </a:xfrm>
          <a:custGeom>
            <a:avLst/>
            <a:gdLst/>
            <a:ahLst/>
            <a:cxnLst/>
            <a:rect l="l" t="t" r="r" b="b"/>
            <a:pathLst>
              <a:path w="5902787" h="2972858">
                <a:moveTo>
                  <a:pt x="0" y="0"/>
                </a:moveTo>
                <a:lnTo>
                  <a:pt x="5902787" y="0"/>
                </a:lnTo>
                <a:lnTo>
                  <a:pt x="5902787" y="2972858"/>
                </a:lnTo>
                <a:lnTo>
                  <a:pt x="0" y="29728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6" name="Group 16"/>
          <p:cNvGrpSpPr/>
          <p:nvPr/>
        </p:nvGrpSpPr>
        <p:grpSpPr>
          <a:xfrm>
            <a:off x="14341190" y="1159847"/>
            <a:ext cx="2265666" cy="2263265"/>
            <a:chOff x="0" y="0"/>
            <a:chExt cx="3020888" cy="3017687"/>
          </a:xfrm>
        </p:grpSpPr>
        <p:sp>
          <p:nvSpPr>
            <p:cNvPr id="17" name="Freeform 17"/>
            <p:cNvSpPr/>
            <p:nvPr/>
          </p:nvSpPr>
          <p:spPr>
            <a:xfrm rot="-5400000">
              <a:off x="-748935" y="748935"/>
              <a:ext cx="3017687" cy="1519817"/>
            </a:xfrm>
            <a:custGeom>
              <a:avLst/>
              <a:gdLst/>
              <a:ahLst/>
              <a:cxnLst/>
              <a:rect l="l" t="t" r="r" b="b"/>
              <a:pathLst>
                <a:path w="3017687" h="1519817">
                  <a:moveTo>
                    <a:pt x="0" y="0"/>
                  </a:moveTo>
                  <a:lnTo>
                    <a:pt x="3017687" y="0"/>
                  </a:lnTo>
                  <a:lnTo>
                    <a:pt x="3017687" y="1519817"/>
                  </a:lnTo>
                  <a:lnTo>
                    <a:pt x="0" y="1519817"/>
                  </a:lnTo>
                  <a:lnTo>
                    <a:pt x="0" y="0"/>
                  </a:lnTo>
                  <a:close/>
                </a:path>
              </a:pathLst>
            </a:custGeom>
            <a:blipFill>
              <a:blip r:embed="rId3">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Freeform 18"/>
            <p:cNvSpPr/>
            <p:nvPr/>
          </p:nvSpPr>
          <p:spPr>
            <a:xfrm rot="5478197">
              <a:off x="757973" y="771700"/>
              <a:ext cx="2965326" cy="1493446"/>
            </a:xfrm>
            <a:custGeom>
              <a:avLst/>
              <a:gdLst/>
              <a:ahLst/>
              <a:cxnLst/>
              <a:rect l="l" t="t" r="r" b="b"/>
              <a:pathLst>
                <a:path w="2965326" h="1493446">
                  <a:moveTo>
                    <a:pt x="0" y="0"/>
                  </a:moveTo>
                  <a:lnTo>
                    <a:pt x="2965326" y="0"/>
                  </a:lnTo>
                  <a:lnTo>
                    <a:pt x="2965326" y="1493446"/>
                  </a:lnTo>
                  <a:lnTo>
                    <a:pt x="0" y="1493446"/>
                  </a:lnTo>
                  <a:lnTo>
                    <a:pt x="0" y="0"/>
                  </a:lnTo>
                  <a:close/>
                </a:path>
              </a:pathLst>
            </a:custGeom>
            <a:blipFill>
              <a:blip r:embed="rId3">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grpSp>
      <p:grpSp>
        <p:nvGrpSpPr>
          <p:cNvPr id="19" name="Group 19"/>
          <p:cNvGrpSpPr/>
          <p:nvPr/>
        </p:nvGrpSpPr>
        <p:grpSpPr>
          <a:xfrm>
            <a:off x="16518562" y="-508924"/>
            <a:ext cx="2265666" cy="2263265"/>
            <a:chOff x="0" y="0"/>
            <a:chExt cx="3020888" cy="3017687"/>
          </a:xfrm>
        </p:grpSpPr>
        <p:sp>
          <p:nvSpPr>
            <p:cNvPr id="20" name="Freeform 20"/>
            <p:cNvSpPr/>
            <p:nvPr/>
          </p:nvSpPr>
          <p:spPr>
            <a:xfrm rot="-5400000">
              <a:off x="-748935" y="748935"/>
              <a:ext cx="3017687" cy="1519817"/>
            </a:xfrm>
            <a:custGeom>
              <a:avLst/>
              <a:gdLst/>
              <a:ahLst/>
              <a:cxnLst/>
              <a:rect l="l" t="t" r="r" b="b"/>
              <a:pathLst>
                <a:path w="3017687" h="1519817">
                  <a:moveTo>
                    <a:pt x="0" y="0"/>
                  </a:moveTo>
                  <a:lnTo>
                    <a:pt x="3017687" y="0"/>
                  </a:lnTo>
                  <a:lnTo>
                    <a:pt x="3017687" y="1519817"/>
                  </a:lnTo>
                  <a:lnTo>
                    <a:pt x="0" y="1519817"/>
                  </a:lnTo>
                  <a:lnTo>
                    <a:pt x="0" y="0"/>
                  </a:lnTo>
                  <a:close/>
                </a:path>
              </a:pathLst>
            </a:custGeom>
            <a:blipFill>
              <a:blip r:embed="rId3">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1" name="Freeform 21"/>
            <p:cNvSpPr/>
            <p:nvPr/>
          </p:nvSpPr>
          <p:spPr>
            <a:xfrm rot="5478197">
              <a:off x="757973" y="771700"/>
              <a:ext cx="2965326" cy="1493446"/>
            </a:xfrm>
            <a:custGeom>
              <a:avLst/>
              <a:gdLst/>
              <a:ahLst/>
              <a:cxnLst/>
              <a:rect l="l" t="t" r="r" b="b"/>
              <a:pathLst>
                <a:path w="2965326" h="1493446">
                  <a:moveTo>
                    <a:pt x="0" y="0"/>
                  </a:moveTo>
                  <a:lnTo>
                    <a:pt x="2965326" y="0"/>
                  </a:lnTo>
                  <a:lnTo>
                    <a:pt x="2965326" y="1493446"/>
                  </a:lnTo>
                  <a:lnTo>
                    <a:pt x="0" y="1493446"/>
                  </a:lnTo>
                  <a:lnTo>
                    <a:pt x="0" y="0"/>
                  </a:lnTo>
                  <a:close/>
                </a:path>
              </a:pathLst>
            </a:custGeom>
            <a:blipFill>
              <a:blip r:embed="rId3">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grpSp>
      <p:grpSp>
        <p:nvGrpSpPr>
          <p:cNvPr id="22" name="Group 22"/>
          <p:cNvGrpSpPr/>
          <p:nvPr/>
        </p:nvGrpSpPr>
        <p:grpSpPr>
          <a:xfrm rot="-1358036">
            <a:off x="851356" y="1451183"/>
            <a:ext cx="2265666" cy="2263265"/>
            <a:chOff x="0" y="0"/>
            <a:chExt cx="3020888" cy="3017687"/>
          </a:xfrm>
        </p:grpSpPr>
        <p:sp>
          <p:nvSpPr>
            <p:cNvPr id="23" name="Freeform 23"/>
            <p:cNvSpPr/>
            <p:nvPr/>
          </p:nvSpPr>
          <p:spPr>
            <a:xfrm rot="-5400000">
              <a:off x="-748935" y="748935"/>
              <a:ext cx="3017687" cy="1519817"/>
            </a:xfrm>
            <a:custGeom>
              <a:avLst/>
              <a:gdLst/>
              <a:ahLst/>
              <a:cxnLst/>
              <a:rect l="l" t="t" r="r" b="b"/>
              <a:pathLst>
                <a:path w="3017687" h="1519817">
                  <a:moveTo>
                    <a:pt x="0" y="0"/>
                  </a:moveTo>
                  <a:lnTo>
                    <a:pt x="3017687" y="0"/>
                  </a:lnTo>
                  <a:lnTo>
                    <a:pt x="3017687" y="1519817"/>
                  </a:lnTo>
                  <a:lnTo>
                    <a:pt x="0" y="1519817"/>
                  </a:lnTo>
                  <a:lnTo>
                    <a:pt x="0" y="0"/>
                  </a:lnTo>
                  <a:close/>
                </a:path>
              </a:pathLst>
            </a:custGeom>
            <a:blipFill>
              <a:blip r:embed="rId3">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4" name="Freeform 24"/>
            <p:cNvSpPr/>
            <p:nvPr/>
          </p:nvSpPr>
          <p:spPr>
            <a:xfrm rot="5478197">
              <a:off x="757973" y="771700"/>
              <a:ext cx="2965326" cy="1493446"/>
            </a:xfrm>
            <a:custGeom>
              <a:avLst/>
              <a:gdLst/>
              <a:ahLst/>
              <a:cxnLst/>
              <a:rect l="l" t="t" r="r" b="b"/>
              <a:pathLst>
                <a:path w="2965326" h="1493446">
                  <a:moveTo>
                    <a:pt x="0" y="0"/>
                  </a:moveTo>
                  <a:lnTo>
                    <a:pt x="2965326" y="0"/>
                  </a:lnTo>
                  <a:lnTo>
                    <a:pt x="2965326" y="1493446"/>
                  </a:lnTo>
                  <a:lnTo>
                    <a:pt x="0" y="1493446"/>
                  </a:lnTo>
                  <a:lnTo>
                    <a:pt x="0" y="0"/>
                  </a:lnTo>
                  <a:close/>
                </a:path>
              </a:pathLst>
            </a:custGeom>
            <a:blipFill>
              <a:blip r:embed="rId3">
                <a:alphaModFix amt="31999"/>
                <a:extLst>
                  <a:ext uri="{96DAC541-7B7A-43D3-8B79-37D633B846F1}">
                    <asvg:svgBlip xmlns:asvg="http://schemas.microsoft.com/office/drawing/2016/SVG/main" r:embed="rId4"/>
                  </a:ext>
                </a:extLst>
              </a:blip>
              <a:stretch>
                <a:fillRect/>
              </a:stretch>
            </a:blipFill>
          </p:spPr>
          <p:txBody>
            <a:bodyPr/>
            <a:lstStyle/>
            <a:p>
              <a:endParaRPr 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TextBox 3"/>
          <p:cNvSpPr txBox="1"/>
          <p:nvPr/>
        </p:nvSpPr>
        <p:spPr>
          <a:xfrm>
            <a:off x="273840" y="561013"/>
            <a:ext cx="20532698" cy="1737303"/>
          </a:xfrm>
          <a:prstGeom prst="rect">
            <a:avLst/>
          </a:prstGeom>
        </p:spPr>
        <p:txBody>
          <a:bodyPr lIns="0" tIns="0" rIns="0" bIns="0" rtlCol="0" anchor="t">
            <a:spAutoFit/>
          </a:bodyPr>
          <a:lstStyle/>
          <a:p>
            <a:pPr marL="0" lvl="0" indent="0" algn="just">
              <a:lnSpc>
                <a:spcPts val="12969"/>
              </a:lnSpc>
              <a:spcBef>
                <a:spcPct val="0"/>
              </a:spcBef>
            </a:pPr>
            <a:r>
              <a:rPr lang="en-US" sz="12969" u="sng" spc="-1024">
                <a:solidFill>
                  <a:srgbClr val="000000"/>
                </a:solidFill>
                <a:latin typeface="Archivo Black"/>
                <a:ea typeface="Archivo Black"/>
                <a:cs typeface="Archivo Black"/>
                <a:sym typeface="Archivo Black"/>
              </a:rPr>
              <a:t>“Our Team”</a:t>
            </a:r>
          </a:p>
        </p:txBody>
      </p:sp>
      <p:sp>
        <p:nvSpPr>
          <p:cNvPr id="4" name="Freeform 4"/>
          <p:cNvSpPr/>
          <p:nvPr/>
        </p:nvSpPr>
        <p:spPr>
          <a:xfrm>
            <a:off x="1776857" y="9045870"/>
            <a:ext cx="3488687" cy="1198840"/>
          </a:xfrm>
          <a:custGeom>
            <a:avLst/>
            <a:gdLst/>
            <a:ahLst/>
            <a:cxnLst/>
            <a:rect l="l" t="t" r="r" b="b"/>
            <a:pathLst>
              <a:path w="3488687" h="1198840">
                <a:moveTo>
                  <a:pt x="0" y="0"/>
                </a:moveTo>
                <a:lnTo>
                  <a:pt x="3488687" y="0"/>
                </a:lnTo>
                <a:lnTo>
                  <a:pt x="3488687" y="1198839"/>
                </a:lnTo>
                <a:lnTo>
                  <a:pt x="0" y="119883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rot="-3427404">
            <a:off x="-3983187" y="-3712819"/>
            <a:ext cx="4711905" cy="7425639"/>
          </a:xfrm>
          <a:custGeom>
            <a:avLst/>
            <a:gdLst/>
            <a:ahLst/>
            <a:cxnLst/>
            <a:rect l="l" t="t" r="r" b="b"/>
            <a:pathLst>
              <a:path w="4711905" h="7425639">
                <a:moveTo>
                  <a:pt x="0" y="0"/>
                </a:moveTo>
                <a:lnTo>
                  <a:pt x="4711906" y="0"/>
                </a:lnTo>
                <a:lnTo>
                  <a:pt x="4711906" y="7425638"/>
                </a:lnTo>
                <a:lnTo>
                  <a:pt x="0" y="7425638"/>
                </a:lnTo>
                <a:lnTo>
                  <a:pt x="0" y="0"/>
                </a:lnTo>
                <a:close/>
              </a:path>
            </a:pathLst>
          </a:custGeom>
          <a:blipFill>
            <a:blip r:embed="rId5">
              <a:alphaModFix amt="36000"/>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6" name="Group 6"/>
          <p:cNvGrpSpPr/>
          <p:nvPr/>
        </p:nvGrpSpPr>
        <p:grpSpPr>
          <a:xfrm>
            <a:off x="8401807" y="-1533825"/>
            <a:ext cx="2265666" cy="2263265"/>
            <a:chOff x="0" y="0"/>
            <a:chExt cx="3020888" cy="3017687"/>
          </a:xfrm>
        </p:grpSpPr>
        <p:sp>
          <p:nvSpPr>
            <p:cNvPr id="7" name="Freeform 7"/>
            <p:cNvSpPr/>
            <p:nvPr/>
          </p:nvSpPr>
          <p:spPr>
            <a:xfrm rot="-5400000">
              <a:off x="-748935" y="748935"/>
              <a:ext cx="3017687" cy="1519817"/>
            </a:xfrm>
            <a:custGeom>
              <a:avLst/>
              <a:gdLst/>
              <a:ahLst/>
              <a:cxnLst/>
              <a:rect l="l" t="t" r="r" b="b"/>
              <a:pathLst>
                <a:path w="3017687" h="1519817">
                  <a:moveTo>
                    <a:pt x="0" y="0"/>
                  </a:moveTo>
                  <a:lnTo>
                    <a:pt x="3017687" y="0"/>
                  </a:lnTo>
                  <a:lnTo>
                    <a:pt x="3017687" y="1519817"/>
                  </a:lnTo>
                  <a:lnTo>
                    <a:pt x="0" y="1519817"/>
                  </a:lnTo>
                  <a:lnTo>
                    <a:pt x="0" y="0"/>
                  </a:lnTo>
                  <a:close/>
                </a:path>
              </a:pathLst>
            </a:custGeom>
            <a:blipFill>
              <a:blip r:embed="rId7">
                <a:alphaModFix amt="31999"/>
                <a:extLst>
                  <a:ext uri="{96DAC541-7B7A-43D3-8B79-37D633B846F1}">
                    <asvg:svgBlip xmlns:asvg="http://schemas.microsoft.com/office/drawing/2016/SVG/main" r:embed="rId8"/>
                  </a:ext>
                </a:extLst>
              </a:blip>
              <a:stretch>
                <a:fillRect/>
              </a:stretch>
            </a:blipFill>
          </p:spPr>
          <p:txBody>
            <a:bodyPr/>
            <a:lstStyle/>
            <a:p>
              <a:endParaRPr lang="en-US"/>
            </a:p>
          </p:txBody>
        </p:sp>
        <p:sp>
          <p:nvSpPr>
            <p:cNvPr id="8" name="Freeform 8"/>
            <p:cNvSpPr/>
            <p:nvPr/>
          </p:nvSpPr>
          <p:spPr>
            <a:xfrm rot="5478197">
              <a:off x="757973" y="771700"/>
              <a:ext cx="2965326" cy="1493446"/>
            </a:xfrm>
            <a:custGeom>
              <a:avLst/>
              <a:gdLst/>
              <a:ahLst/>
              <a:cxnLst/>
              <a:rect l="l" t="t" r="r" b="b"/>
              <a:pathLst>
                <a:path w="2965326" h="1493446">
                  <a:moveTo>
                    <a:pt x="0" y="0"/>
                  </a:moveTo>
                  <a:lnTo>
                    <a:pt x="2965326" y="0"/>
                  </a:lnTo>
                  <a:lnTo>
                    <a:pt x="2965326" y="1493446"/>
                  </a:lnTo>
                  <a:lnTo>
                    <a:pt x="0" y="1493446"/>
                  </a:lnTo>
                  <a:lnTo>
                    <a:pt x="0" y="0"/>
                  </a:lnTo>
                  <a:close/>
                </a:path>
              </a:pathLst>
            </a:custGeom>
            <a:blipFill>
              <a:blip r:embed="rId7">
                <a:alphaModFix amt="31999"/>
                <a:extLst>
                  <a:ext uri="{96DAC541-7B7A-43D3-8B79-37D633B846F1}">
                    <asvg:svgBlip xmlns:asvg="http://schemas.microsoft.com/office/drawing/2016/SVG/main" r:embed="rId8"/>
                  </a:ext>
                </a:extLst>
              </a:blip>
              <a:stretch>
                <a:fillRect/>
              </a:stretch>
            </a:blipFill>
          </p:spPr>
          <p:txBody>
            <a:bodyPr/>
            <a:lstStyle/>
            <a:p>
              <a:endParaRPr lang="en-US"/>
            </a:p>
          </p:txBody>
        </p:sp>
      </p:grpSp>
      <p:sp>
        <p:nvSpPr>
          <p:cNvPr id="9" name="Freeform 9"/>
          <p:cNvSpPr/>
          <p:nvPr/>
        </p:nvSpPr>
        <p:spPr>
          <a:xfrm rot="8180515">
            <a:off x="16753795" y="7289090"/>
            <a:ext cx="4711905" cy="7425639"/>
          </a:xfrm>
          <a:custGeom>
            <a:avLst/>
            <a:gdLst/>
            <a:ahLst/>
            <a:cxnLst/>
            <a:rect l="l" t="t" r="r" b="b"/>
            <a:pathLst>
              <a:path w="4711905" h="7425639">
                <a:moveTo>
                  <a:pt x="0" y="0"/>
                </a:moveTo>
                <a:lnTo>
                  <a:pt x="4711906" y="0"/>
                </a:lnTo>
                <a:lnTo>
                  <a:pt x="4711906" y="7425639"/>
                </a:lnTo>
                <a:lnTo>
                  <a:pt x="0" y="7425639"/>
                </a:lnTo>
                <a:lnTo>
                  <a:pt x="0" y="0"/>
                </a:lnTo>
                <a:close/>
              </a:path>
            </a:pathLst>
          </a:custGeom>
          <a:blipFill>
            <a:blip r:embed="rId5">
              <a:alphaModFix amt="36000"/>
              <a:extLst>
                <a:ext uri="{96DAC541-7B7A-43D3-8B79-37D633B846F1}">
                  <asvg:svgBlip xmlns:asvg="http://schemas.microsoft.com/office/drawing/2016/SVG/main" r:embed="rId6"/>
                </a:ext>
              </a:extLst>
            </a:blip>
            <a:stretch>
              <a:fillRect/>
            </a:stretch>
          </a:blipFill>
        </p:spPr>
        <p:txBody>
          <a:bodyPr/>
          <a:lstStyle/>
          <a:p>
            <a:endParaRPr lang="en-US"/>
          </a:p>
        </p:txBody>
      </p:sp>
      <p:graphicFrame>
        <p:nvGraphicFramePr>
          <p:cNvPr id="10" name="Table 10"/>
          <p:cNvGraphicFramePr>
            <a:graphicFrameLocks noGrp="1"/>
          </p:cNvGraphicFramePr>
          <p:nvPr>
            <p:extLst>
              <p:ext uri="{D42A27DB-BD31-4B8C-83A1-F6EECF244321}">
                <p14:modId xmlns:p14="http://schemas.microsoft.com/office/powerpoint/2010/main" val="1023433071"/>
              </p:ext>
            </p:extLst>
          </p:nvPr>
        </p:nvGraphicFramePr>
        <p:xfrm>
          <a:off x="3505199" y="3419221"/>
          <a:ext cx="11336925" cy="4139568"/>
        </p:xfrm>
        <a:graphic>
          <a:graphicData uri="http://schemas.openxmlformats.org/drawingml/2006/table">
            <a:tbl>
              <a:tblPr/>
              <a:tblGrid>
                <a:gridCol w="5359678">
                  <a:extLst>
                    <a:ext uri="{9D8B030D-6E8A-4147-A177-3AD203B41FA5}">
                      <a16:colId xmlns:a16="http://schemas.microsoft.com/office/drawing/2014/main" val="20000"/>
                    </a:ext>
                  </a:extLst>
                </a:gridCol>
                <a:gridCol w="5977247">
                  <a:extLst>
                    <a:ext uri="{9D8B030D-6E8A-4147-A177-3AD203B41FA5}">
                      <a16:colId xmlns:a16="http://schemas.microsoft.com/office/drawing/2014/main" val="20001"/>
                    </a:ext>
                  </a:extLst>
                </a:gridCol>
              </a:tblGrid>
              <a:tr h="1120262">
                <a:tc>
                  <a:txBody>
                    <a:bodyPr/>
                    <a:lstStyle/>
                    <a:p>
                      <a:pPr algn="ctr">
                        <a:lnSpc>
                          <a:spcPts val="6719"/>
                        </a:lnSpc>
                        <a:defRPr/>
                      </a:pPr>
                      <a:r>
                        <a:rPr lang="en-US" sz="4799" b="1" dirty="0">
                          <a:solidFill>
                            <a:srgbClr val="000000"/>
                          </a:solidFill>
                          <a:latin typeface="Garet Bold"/>
                          <a:ea typeface="Garet Bold"/>
                          <a:cs typeface="Garet Bold"/>
                          <a:sym typeface="Garet Bold"/>
                        </a:rPr>
                        <a:t>Name</a:t>
                      </a:r>
                      <a:endParaRPr lang="en-US" sz="1100" dirty="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6719"/>
                        </a:lnSpc>
                        <a:defRPr/>
                      </a:pPr>
                      <a:r>
                        <a:rPr lang="en-US" sz="4799" b="1">
                          <a:solidFill>
                            <a:srgbClr val="000000"/>
                          </a:solidFill>
                          <a:latin typeface="Garet Bold"/>
                          <a:ea typeface="Garet Bold"/>
                          <a:cs typeface="Garet Bold"/>
                          <a:sym typeface="Garet Bold"/>
                        </a:rPr>
                        <a:t>Roll</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79171">
                <a:tc>
                  <a:txBody>
                    <a:bodyPr/>
                    <a:lstStyle/>
                    <a:p>
                      <a:pPr algn="ctr">
                        <a:lnSpc>
                          <a:spcPts val="4199"/>
                        </a:lnSpc>
                        <a:defRPr/>
                      </a:pPr>
                      <a:r>
                        <a:rPr lang="en-US" sz="2999" b="1" dirty="0">
                          <a:solidFill>
                            <a:srgbClr val="000000"/>
                          </a:solidFill>
                          <a:latin typeface="Garet Bold"/>
                          <a:ea typeface="Garet Bold"/>
                          <a:cs typeface="Garet Bold"/>
                          <a:sym typeface="Garet Bold"/>
                        </a:rPr>
                        <a:t>Md. Tuhin Alam</a:t>
                      </a:r>
                      <a:endParaRPr lang="en-US" sz="1100" dirty="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b="1" dirty="0">
                          <a:solidFill>
                            <a:srgbClr val="000000"/>
                          </a:solidFill>
                          <a:latin typeface="Garet Bold"/>
                          <a:ea typeface="Garet Bold"/>
                          <a:cs typeface="Garet Bold"/>
                          <a:sym typeface="Garet Bold"/>
                        </a:rPr>
                        <a:t>2024-3-60-441</a:t>
                      </a:r>
                      <a:endParaRPr lang="en-US" sz="1100" dirty="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79171">
                <a:tc>
                  <a:txBody>
                    <a:bodyPr/>
                    <a:lstStyle/>
                    <a:p>
                      <a:pPr algn="ctr">
                        <a:lnSpc>
                          <a:spcPts val="4199"/>
                        </a:lnSpc>
                        <a:defRPr/>
                      </a:pPr>
                      <a:r>
                        <a:rPr lang="en-US" sz="2999" b="1" dirty="0">
                          <a:solidFill>
                            <a:srgbClr val="000000"/>
                          </a:solidFill>
                          <a:latin typeface="Garet Bold"/>
                          <a:ea typeface="Garet Bold"/>
                          <a:cs typeface="Garet Bold"/>
                          <a:sym typeface="Garet Bold"/>
                        </a:rPr>
                        <a:t>  Sajid Ahnaf </a:t>
                      </a:r>
                      <a:r>
                        <a:rPr lang="en-US" sz="2999" b="1" dirty="0" err="1">
                          <a:solidFill>
                            <a:srgbClr val="000000"/>
                          </a:solidFill>
                          <a:latin typeface="Garet Bold"/>
                          <a:ea typeface="Garet Bold"/>
                          <a:cs typeface="Garet Bold"/>
                          <a:sym typeface="Garet Bold"/>
                        </a:rPr>
                        <a:t>Sahaf</a:t>
                      </a:r>
                      <a:endParaRPr lang="en-US" sz="1100" dirty="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b="1" dirty="0">
                          <a:solidFill>
                            <a:srgbClr val="000000"/>
                          </a:solidFill>
                          <a:latin typeface="Garet Bold"/>
                          <a:ea typeface="Garet Bold"/>
                          <a:cs typeface="Garet Bold"/>
                          <a:sym typeface="Garet Bold"/>
                        </a:rPr>
                        <a:t>2024-3-60-449</a:t>
                      </a:r>
                      <a:endParaRPr lang="en-US" sz="1100" dirty="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79171">
                <a:tc>
                  <a:txBody>
                    <a:bodyPr/>
                    <a:lstStyle/>
                    <a:p>
                      <a:pPr algn="ctr">
                        <a:lnSpc>
                          <a:spcPts val="4199"/>
                        </a:lnSpc>
                        <a:defRPr/>
                      </a:pPr>
                      <a:r>
                        <a:rPr lang="en-US" sz="2999" b="1" dirty="0">
                          <a:solidFill>
                            <a:srgbClr val="000000"/>
                          </a:solidFill>
                          <a:latin typeface="Garet Bold"/>
                          <a:ea typeface="Garet Bold"/>
                          <a:cs typeface="Garet Bold"/>
                          <a:sym typeface="Garet Bold"/>
                        </a:rPr>
                        <a:t>Sakib Khandakar</a:t>
                      </a:r>
                      <a:endParaRPr lang="en-US" sz="1100" dirty="0"/>
                    </a:p>
                  </a:txBody>
                  <a:tcPr marL="190500" marR="190500" marT="190500" marB="190500" anchor="ctr">
                    <a:lnL w="190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4199"/>
                        </a:lnSpc>
                        <a:defRPr/>
                      </a:pPr>
                      <a:r>
                        <a:rPr lang="en-US" sz="2999" b="1" dirty="0">
                          <a:solidFill>
                            <a:srgbClr val="000000"/>
                          </a:solidFill>
                          <a:latin typeface="Garet Bold"/>
                          <a:ea typeface="Garet Bold"/>
                          <a:cs typeface="Garet Bold"/>
                          <a:sym typeface="Garet Bold"/>
                        </a:rPr>
                        <a:t>2024-3-60-442</a:t>
                      </a:r>
                      <a:endParaRPr lang="en-US" sz="1100" dirty="0"/>
                    </a:p>
                  </a:txBody>
                  <a:tcPr marL="190500" marR="190500" marT="190500" marB="190500" anchor="ctr">
                    <a:lnL w="12700" cap="flat" cmpd="sng" algn="ctr">
                      <a:solidFill>
                        <a:schemeClr val="tx1"/>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Freeform 11"/>
          <p:cNvSpPr/>
          <p:nvPr/>
        </p:nvSpPr>
        <p:spPr>
          <a:xfrm>
            <a:off x="12870957" y="2220381"/>
            <a:ext cx="3488687" cy="1198840"/>
          </a:xfrm>
          <a:custGeom>
            <a:avLst/>
            <a:gdLst/>
            <a:ahLst/>
            <a:cxnLst/>
            <a:rect l="l" t="t" r="r" b="b"/>
            <a:pathLst>
              <a:path w="3488687" h="1198840">
                <a:moveTo>
                  <a:pt x="0" y="0"/>
                </a:moveTo>
                <a:lnTo>
                  <a:pt x="3488687" y="0"/>
                </a:lnTo>
                <a:lnTo>
                  <a:pt x="3488687" y="1198839"/>
                </a:lnTo>
                <a:lnTo>
                  <a:pt x="0" y="119883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rot="5400000">
            <a:off x="13731834" y="3394642"/>
            <a:ext cx="3488687" cy="1198840"/>
          </a:xfrm>
          <a:custGeom>
            <a:avLst/>
            <a:gdLst/>
            <a:ahLst/>
            <a:cxnLst/>
            <a:rect l="l" t="t" r="r" b="b"/>
            <a:pathLst>
              <a:path w="3488687" h="1198840">
                <a:moveTo>
                  <a:pt x="0" y="0"/>
                </a:moveTo>
                <a:lnTo>
                  <a:pt x="3488687" y="0"/>
                </a:lnTo>
                <a:lnTo>
                  <a:pt x="3488687" y="1198840"/>
                </a:lnTo>
                <a:lnTo>
                  <a:pt x="0" y="11988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Freeform 13"/>
          <p:cNvSpPr/>
          <p:nvPr/>
        </p:nvSpPr>
        <p:spPr>
          <a:xfrm rot="5400000">
            <a:off x="825463" y="7900946"/>
            <a:ext cx="3488687" cy="1198840"/>
          </a:xfrm>
          <a:custGeom>
            <a:avLst/>
            <a:gdLst/>
            <a:ahLst/>
            <a:cxnLst/>
            <a:rect l="l" t="t" r="r" b="b"/>
            <a:pathLst>
              <a:path w="3488687" h="1198840">
                <a:moveTo>
                  <a:pt x="0" y="0"/>
                </a:moveTo>
                <a:lnTo>
                  <a:pt x="3488687" y="0"/>
                </a:lnTo>
                <a:lnTo>
                  <a:pt x="3488687" y="1198840"/>
                </a:lnTo>
                <a:lnTo>
                  <a:pt x="0" y="11988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aphicFrame>
        <p:nvGraphicFramePr>
          <p:cNvPr id="14" name="Table 13">
            <a:extLst>
              <a:ext uri="{FF2B5EF4-FFF2-40B4-BE49-F238E27FC236}">
                <a16:creationId xmlns:a16="http://schemas.microsoft.com/office/drawing/2014/main" id="{1423E877-1B62-EEE2-0A1A-2C604288946B}"/>
              </a:ext>
            </a:extLst>
          </p:cNvPr>
          <p:cNvGraphicFramePr>
            <a:graphicFrameLocks noGrp="1"/>
          </p:cNvGraphicFramePr>
          <p:nvPr>
            <p:extLst>
              <p:ext uri="{D42A27DB-BD31-4B8C-83A1-F6EECF244321}">
                <p14:modId xmlns:p14="http://schemas.microsoft.com/office/powerpoint/2010/main" val="4062339470"/>
              </p:ext>
            </p:extLst>
          </p:nvPr>
        </p:nvGraphicFramePr>
        <p:xfrm>
          <a:off x="3505199" y="7562850"/>
          <a:ext cx="11353801" cy="781050"/>
        </p:xfrm>
        <a:graphic>
          <a:graphicData uri="http://schemas.openxmlformats.org/drawingml/2006/table">
            <a:tbl>
              <a:tblPr/>
              <a:tblGrid>
                <a:gridCol w="5334001">
                  <a:extLst>
                    <a:ext uri="{9D8B030D-6E8A-4147-A177-3AD203B41FA5}">
                      <a16:colId xmlns:a16="http://schemas.microsoft.com/office/drawing/2014/main" val="206715455"/>
                    </a:ext>
                  </a:extLst>
                </a:gridCol>
                <a:gridCol w="6019800">
                  <a:extLst>
                    <a:ext uri="{9D8B030D-6E8A-4147-A177-3AD203B41FA5}">
                      <a16:colId xmlns:a16="http://schemas.microsoft.com/office/drawing/2014/main" val="906299571"/>
                    </a:ext>
                  </a:extLst>
                </a:gridCol>
              </a:tblGrid>
              <a:tr h="781050">
                <a:tc>
                  <a:txBody>
                    <a:bodyPr/>
                    <a:lstStyle/>
                    <a:p>
                      <a:pPr algn="ctr"/>
                      <a:r>
                        <a:rPr lang="en-US" sz="3000" dirty="0">
                          <a:latin typeface="Garet Bold" panose="020B0604020202020204" charset="0"/>
                        </a:rPr>
                        <a:t>Al Amin</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000" b="1" dirty="0">
                          <a:solidFill>
                            <a:srgbClr val="000000"/>
                          </a:solidFill>
                          <a:latin typeface="Garet Bold"/>
                          <a:ea typeface="Garet Bold"/>
                          <a:cs typeface="Garet Bold"/>
                          <a:sym typeface="Garet Bold"/>
                        </a:rPr>
                        <a:t>2024-3-60-448</a:t>
                      </a:r>
                      <a:endParaRPr lang="en-US" sz="3000"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1244356"/>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TextBox 3"/>
          <p:cNvSpPr txBox="1"/>
          <p:nvPr/>
        </p:nvSpPr>
        <p:spPr>
          <a:xfrm>
            <a:off x="273840" y="456238"/>
            <a:ext cx="12000803" cy="1021234"/>
          </a:xfrm>
          <a:prstGeom prst="rect">
            <a:avLst/>
          </a:prstGeom>
        </p:spPr>
        <p:txBody>
          <a:bodyPr lIns="0" tIns="0" rIns="0" bIns="0" rtlCol="0" anchor="t">
            <a:spAutoFit/>
          </a:bodyPr>
          <a:lstStyle/>
          <a:p>
            <a:pPr marL="0" lvl="0" indent="0" algn="just">
              <a:lnSpc>
                <a:spcPts val="7580"/>
              </a:lnSpc>
              <a:spcBef>
                <a:spcPct val="0"/>
              </a:spcBef>
            </a:pPr>
            <a:r>
              <a:rPr lang="en-US" sz="7580" u="sng" spc="-598">
                <a:solidFill>
                  <a:srgbClr val="000000"/>
                </a:solidFill>
                <a:latin typeface="Archivo Black"/>
                <a:ea typeface="Archivo Black"/>
                <a:cs typeface="Archivo Black"/>
                <a:sym typeface="Archivo Black"/>
              </a:rPr>
              <a:t>“Project  Overview:”</a:t>
            </a:r>
          </a:p>
        </p:txBody>
      </p:sp>
      <p:sp>
        <p:nvSpPr>
          <p:cNvPr id="4" name="TextBox 4"/>
          <p:cNvSpPr txBox="1"/>
          <p:nvPr/>
        </p:nvSpPr>
        <p:spPr>
          <a:xfrm>
            <a:off x="741511" y="4230498"/>
            <a:ext cx="7665916" cy="5334794"/>
          </a:xfrm>
          <a:prstGeom prst="rect">
            <a:avLst/>
          </a:prstGeom>
        </p:spPr>
        <p:txBody>
          <a:bodyPr lIns="0" tIns="0" rIns="0" bIns="0" rtlCol="0" anchor="t">
            <a:spAutoFit/>
          </a:bodyPr>
          <a:lstStyle/>
          <a:p>
            <a:pPr algn="ctr">
              <a:lnSpc>
                <a:spcPts val="3359"/>
              </a:lnSpc>
            </a:pPr>
            <a:r>
              <a:rPr lang="en-US" sz="2399" b="1" dirty="0">
                <a:solidFill>
                  <a:srgbClr val="000000"/>
                </a:solidFill>
                <a:latin typeface="Garet Bold"/>
                <a:ea typeface="Garet Bold"/>
                <a:cs typeface="Garet Bold"/>
                <a:sym typeface="Garet Bold"/>
              </a:rPr>
              <a:t>Generate a random adjacency matrix for undirected graphs.</a:t>
            </a:r>
          </a:p>
          <a:p>
            <a:pPr algn="l">
              <a:lnSpc>
                <a:spcPts val="2800"/>
              </a:lnSpc>
            </a:pPr>
            <a:endParaRPr lang="en-US" sz="2399" b="1" dirty="0">
              <a:solidFill>
                <a:srgbClr val="000000"/>
              </a:solidFill>
              <a:latin typeface="Garet Bold"/>
              <a:ea typeface="Garet Bold"/>
              <a:cs typeface="Garet Bold"/>
              <a:sym typeface="Garet Bold"/>
            </a:endParaRPr>
          </a:p>
          <a:p>
            <a:pPr algn="ctr">
              <a:lnSpc>
                <a:spcPts val="3499"/>
              </a:lnSpc>
            </a:pPr>
            <a:r>
              <a:rPr lang="en-US" sz="2499" b="1" dirty="0">
                <a:solidFill>
                  <a:srgbClr val="000000"/>
                </a:solidFill>
                <a:latin typeface="Garet Bold"/>
                <a:ea typeface="Garet Bold"/>
                <a:cs typeface="Garet Bold"/>
                <a:sym typeface="Garet Bold"/>
              </a:rPr>
              <a:t>Degree Calculation:</a:t>
            </a:r>
          </a:p>
          <a:p>
            <a:pPr algn="l">
              <a:lnSpc>
                <a:spcPts val="2800"/>
              </a:lnSpc>
            </a:pPr>
            <a:endParaRPr lang="en-US" sz="2499" b="1" dirty="0">
              <a:solidFill>
                <a:srgbClr val="000000"/>
              </a:solidFill>
              <a:latin typeface="Garet Bold"/>
              <a:ea typeface="Garet Bold"/>
              <a:cs typeface="Garet Bold"/>
              <a:sym typeface="Garet Bold"/>
            </a:endParaRPr>
          </a:p>
          <a:p>
            <a:pPr algn="l">
              <a:lnSpc>
                <a:spcPts val="2800"/>
              </a:lnSpc>
            </a:pPr>
            <a:r>
              <a:rPr lang="en-US" sz="2000" b="1" i="1" u="sng" dirty="0">
                <a:solidFill>
                  <a:srgbClr val="000000"/>
                </a:solidFill>
                <a:latin typeface="Garet Bold Italics"/>
                <a:ea typeface="Garet Bold Italics"/>
                <a:cs typeface="Garet Bold Italics"/>
                <a:sym typeface="Garet Bold Italics"/>
              </a:rPr>
              <a:t>Degrees:</a:t>
            </a:r>
            <a:r>
              <a:rPr lang="en-US" sz="2000" dirty="0">
                <a:solidFill>
                  <a:srgbClr val="000000"/>
                </a:solidFill>
                <a:latin typeface="Garet"/>
                <a:ea typeface="Garet"/>
                <a:cs typeface="Garet"/>
                <a:sym typeface="Garet"/>
              </a:rPr>
              <a:t> Number of total degree.</a:t>
            </a:r>
          </a:p>
          <a:p>
            <a:pPr algn="l">
              <a:lnSpc>
                <a:spcPts val="2800"/>
              </a:lnSpc>
            </a:pPr>
            <a:endParaRPr lang="en-US" sz="2000" dirty="0">
              <a:solidFill>
                <a:srgbClr val="000000"/>
              </a:solidFill>
              <a:latin typeface="Garet"/>
              <a:ea typeface="Garet"/>
              <a:cs typeface="Garet"/>
              <a:sym typeface="Garet"/>
            </a:endParaRPr>
          </a:p>
          <a:p>
            <a:pPr algn="l">
              <a:lnSpc>
                <a:spcPts val="2800"/>
              </a:lnSpc>
            </a:pPr>
            <a:endParaRPr lang="en-US" sz="2000" dirty="0">
              <a:solidFill>
                <a:srgbClr val="000000"/>
              </a:solidFill>
              <a:latin typeface="Garet"/>
              <a:ea typeface="Garet"/>
              <a:cs typeface="Garet"/>
              <a:sym typeface="Garet"/>
            </a:endParaRPr>
          </a:p>
          <a:p>
            <a:pPr algn="ctr">
              <a:lnSpc>
                <a:spcPts val="3359"/>
              </a:lnSpc>
            </a:pPr>
            <a:r>
              <a:rPr lang="en-US" sz="2399" b="1" dirty="0">
                <a:solidFill>
                  <a:srgbClr val="000000"/>
                </a:solidFill>
                <a:latin typeface="Garet Bold"/>
                <a:ea typeface="Garet Bold"/>
                <a:cs typeface="Garet Bold"/>
                <a:sym typeface="Garet Bold"/>
              </a:rPr>
              <a:t>Analyze the computational complexity:</a:t>
            </a:r>
          </a:p>
          <a:p>
            <a:pPr algn="l">
              <a:lnSpc>
                <a:spcPts val="2800"/>
              </a:lnSpc>
            </a:pPr>
            <a:endParaRPr lang="en-US" sz="2399" b="1" dirty="0">
              <a:solidFill>
                <a:srgbClr val="000000"/>
              </a:solidFill>
              <a:latin typeface="Garet Bold"/>
              <a:ea typeface="Garet Bold"/>
              <a:cs typeface="Garet Bold"/>
              <a:sym typeface="Garet Bold"/>
            </a:endParaRPr>
          </a:p>
          <a:p>
            <a:pPr algn="l">
              <a:lnSpc>
                <a:spcPts val="2800"/>
              </a:lnSpc>
            </a:pPr>
            <a:r>
              <a:rPr lang="en-US" sz="2000" b="1" i="1" u="sng" dirty="0">
                <a:solidFill>
                  <a:srgbClr val="000000"/>
                </a:solidFill>
                <a:latin typeface="Garet Bold Italics"/>
                <a:ea typeface="Garet Bold Italics"/>
                <a:cs typeface="Garet Bold Italics"/>
                <a:sym typeface="Garet Bold Italics"/>
              </a:rPr>
              <a:t>Theoretically</a:t>
            </a:r>
            <a:r>
              <a:rPr lang="en-US" sz="2000" dirty="0">
                <a:solidFill>
                  <a:srgbClr val="000000"/>
                </a:solidFill>
                <a:latin typeface="Garet"/>
                <a:ea typeface="Garet"/>
                <a:cs typeface="Garet"/>
                <a:sym typeface="Garet"/>
              </a:rPr>
              <a:t>: Determine complexity based on algorithm design.</a:t>
            </a:r>
          </a:p>
          <a:p>
            <a:pPr algn="l">
              <a:lnSpc>
                <a:spcPts val="2800"/>
              </a:lnSpc>
            </a:pPr>
            <a:r>
              <a:rPr lang="en-US" sz="2000" b="1" i="1" u="sng" dirty="0">
                <a:solidFill>
                  <a:srgbClr val="000000"/>
                </a:solidFill>
                <a:latin typeface="Garet Bold Italics"/>
                <a:ea typeface="Garet Bold Italics"/>
                <a:cs typeface="Garet Bold Italics"/>
                <a:sym typeface="Garet Bold Italics"/>
              </a:rPr>
              <a:t>Empirically</a:t>
            </a:r>
            <a:r>
              <a:rPr lang="en-US" sz="2000" dirty="0">
                <a:solidFill>
                  <a:srgbClr val="000000"/>
                </a:solidFill>
                <a:latin typeface="Garet"/>
                <a:ea typeface="Garet"/>
                <a:cs typeface="Garet"/>
                <a:sym typeface="Garet"/>
              </a:rPr>
              <a:t>: Measure performance during execution.</a:t>
            </a:r>
          </a:p>
          <a:p>
            <a:pPr algn="l">
              <a:lnSpc>
                <a:spcPts val="2800"/>
              </a:lnSpc>
            </a:pPr>
            <a:endParaRPr lang="en-US" sz="2000" dirty="0">
              <a:solidFill>
                <a:srgbClr val="000000"/>
              </a:solidFill>
              <a:latin typeface="Garet"/>
              <a:ea typeface="Garet"/>
              <a:cs typeface="Garet"/>
              <a:sym typeface="Garet"/>
            </a:endParaRPr>
          </a:p>
        </p:txBody>
      </p:sp>
      <p:sp>
        <p:nvSpPr>
          <p:cNvPr id="5" name="AutoShape 5"/>
          <p:cNvSpPr/>
          <p:nvPr/>
        </p:nvSpPr>
        <p:spPr>
          <a:xfrm>
            <a:off x="8901197" y="2794548"/>
            <a:ext cx="0" cy="7524115"/>
          </a:xfrm>
          <a:prstGeom prst="line">
            <a:avLst/>
          </a:prstGeom>
          <a:ln w="38100" cap="flat">
            <a:solidFill>
              <a:srgbClr val="000000"/>
            </a:solidFill>
            <a:prstDash val="solid"/>
            <a:headEnd type="none" w="sm" len="sm"/>
            <a:tailEnd type="none" w="sm" len="sm"/>
          </a:ln>
        </p:spPr>
        <p:txBody>
          <a:bodyPr/>
          <a:lstStyle/>
          <a:p>
            <a:endParaRPr lang="en-US"/>
          </a:p>
        </p:txBody>
      </p:sp>
      <p:sp>
        <p:nvSpPr>
          <p:cNvPr id="6" name="TextBox 6"/>
          <p:cNvSpPr txBox="1"/>
          <p:nvPr/>
        </p:nvSpPr>
        <p:spPr>
          <a:xfrm>
            <a:off x="3297183" y="2927898"/>
            <a:ext cx="2966887" cy="1021234"/>
          </a:xfrm>
          <a:prstGeom prst="rect">
            <a:avLst/>
          </a:prstGeom>
        </p:spPr>
        <p:txBody>
          <a:bodyPr lIns="0" tIns="0" rIns="0" bIns="0" rtlCol="0" anchor="t">
            <a:spAutoFit/>
          </a:bodyPr>
          <a:lstStyle/>
          <a:p>
            <a:pPr marL="0" lvl="0" indent="0" algn="just">
              <a:lnSpc>
                <a:spcPts val="7580"/>
              </a:lnSpc>
              <a:spcBef>
                <a:spcPct val="0"/>
              </a:spcBef>
            </a:pPr>
            <a:r>
              <a:rPr lang="en-US" sz="7580" u="sng" spc="-598">
                <a:solidFill>
                  <a:srgbClr val="000000"/>
                </a:solidFill>
                <a:latin typeface="Archivo Black"/>
                <a:ea typeface="Archivo Black"/>
                <a:cs typeface="Archivo Black"/>
                <a:sym typeface="Archivo Black"/>
              </a:rPr>
              <a:t>Goals:</a:t>
            </a:r>
          </a:p>
        </p:txBody>
      </p:sp>
      <p:sp>
        <p:nvSpPr>
          <p:cNvPr id="7" name="TextBox 7"/>
          <p:cNvSpPr txBox="1"/>
          <p:nvPr/>
        </p:nvSpPr>
        <p:spPr>
          <a:xfrm>
            <a:off x="11877494" y="2927898"/>
            <a:ext cx="3105744" cy="1021234"/>
          </a:xfrm>
          <a:prstGeom prst="rect">
            <a:avLst/>
          </a:prstGeom>
        </p:spPr>
        <p:txBody>
          <a:bodyPr lIns="0" tIns="0" rIns="0" bIns="0" rtlCol="0" anchor="t">
            <a:spAutoFit/>
          </a:bodyPr>
          <a:lstStyle/>
          <a:p>
            <a:pPr marL="0" lvl="0" indent="0" algn="just">
              <a:lnSpc>
                <a:spcPts val="7580"/>
              </a:lnSpc>
              <a:spcBef>
                <a:spcPct val="0"/>
              </a:spcBef>
            </a:pPr>
            <a:r>
              <a:rPr lang="en-US" sz="7580" u="sng" spc="-598">
                <a:solidFill>
                  <a:srgbClr val="000000"/>
                </a:solidFill>
                <a:latin typeface="Archivo Black"/>
                <a:ea typeface="Archivo Black"/>
                <a:cs typeface="Archivo Black"/>
                <a:sym typeface="Archivo Black"/>
              </a:rPr>
              <a:t>Tasks:</a:t>
            </a:r>
          </a:p>
        </p:txBody>
      </p:sp>
      <p:sp>
        <p:nvSpPr>
          <p:cNvPr id="8" name="TextBox 8"/>
          <p:cNvSpPr txBox="1"/>
          <p:nvPr/>
        </p:nvSpPr>
        <p:spPr>
          <a:xfrm>
            <a:off x="9668820" y="4863695"/>
            <a:ext cx="8560435" cy="4655121"/>
          </a:xfrm>
          <a:prstGeom prst="rect">
            <a:avLst/>
          </a:prstGeom>
        </p:spPr>
        <p:txBody>
          <a:bodyPr lIns="0" tIns="0" rIns="0" bIns="0" rtlCol="0" anchor="t">
            <a:spAutoFit/>
          </a:bodyPr>
          <a:lstStyle/>
          <a:p>
            <a:pPr algn="just">
              <a:lnSpc>
                <a:spcPts val="2800"/>
              </a:lnSpc>
            </a:pPr>
            <a:r>
              <a:rPr lang="en-US" sz="2000" dirty="0">
                <a:solidFill>
                  <a:srgbClr val="000000"/>
                </a:solidFill>
                <a:latin typeface="Garet"/>
                <a:ea typeface="Garet"/>
                <a:cs typeface="Garet"/>
                <a:sym typeface="Garet"/>
              </a:rPr>
              <a:t>Determine the edges , degree and time.</a:t>
            </a:r>
          </a:p>
          <a:p>
            <a:pPr algn="just">
              <a:lnSpc>
                <a:spcPts val="2800"/>
              </a:lnSpc>
            </a:pPr>
            <a:endParaRPr lang="en-US" sz="2000" dirty="0">
              <a:solidFill>
                <a:srgbClr val="000000"/>
              </a:solidFill>
              <a:latin typeface="Garet"/>
              <a:ea typeface="Garet"/>
              <a:cs typeface="Garet"/>
              <a:sym typeface="Garet"/>
            </a:endParaRPr>
          </a:p>
          <a:p>
            <a:pPr algn="just">
              <a:lnSpc>
                <a:spcPts val="2800"/>
              </a:lnSpc>
            </a:pPr>
            <a:endParaRPr lang="en-US" sz="2000" dirty="0">
              <a:solidFill>
                <a:srgbClr val="000000"/>
              </a:solidFill>
              <a:latin typeface="Garet"/>
              <a:ea typeface="Garet"/>
              <a:cs typeface="Garet"/>
              <a:sym typeface="Garet"/>
            </a:endParaRPr>
          </a:p>
          <a:p>
            <a:pPr algn="just">
              <a:lnSpc>
                <a:spcPts val="2800"/>
              </a:lnSpc>
            </a:pPr>
            <a:r>
              <a:rPr lang="en-US" sz="2000" dirty="0">
                <a:solidFill>
                  <a:srgbClr val="000000"/>
                </a:solidFill>
                <a:latin typeface="Garet"/>
                <a:ea typeface="Garet"/>
                <a:cs typeface="Garet"/>
                <a:sym typeface="Garet"/>
              </a:rPr>
              <a:t>Measure execution time for graph generation and degree computation.</a:t>
            </a:r>
          </a:p>
          <a:p>
            <a:pPr algn="just">
              <a:lnSpc>
                <a:spcPts val="2800"/>
              </a:lnSpc>
            </a:pPr>
            <a:endParaRPr lang="en-US" sz="2000" dirty="0">
              <a:solidFill>
                <a:srgbClr val="000000"/>
              </a:solidFill>
              <a:latin typeface="Garet"/>
              <a:ea typeface="Garet"/>
              <a:cs typeface="Garet"/>
              <a:sym typeface="Garet"/>
            </a:endParaRPr>
          </a:p>
          <a:p>
            <a:pPr algn="just">
              <a:lnSpc>
                <a:spcPts val="2800"/>
              </a:lnSpc>
            </a:pPr>
            <a:r>
              <a:rPr lang="en-US" sz="2000" u="sng" dirty="0">
                <a:solidFill>
                  <a:srgbClr val="000000"/>
                </a:solidFill>
                <a:latin typeface="Garet"/>
                <a:ea typeface="Garet"/>
                <a:cs typeface="Garet"/>
                <a:sym typeface="Garet"/>
              </a:rPr>
              <a:t>Visualize execution time vs. n using Excel.</a:t>
            </a:r>
          </a:p>
          <a:p>
            <a:pPr algn="just">
              <a:lnSpc>
                <a:spcPts val="2800"/>
              </a:lnSpc>
            </a:pPr>
            <a:endParaRPr lang="en-US" sz="2000" u="sng" dirty="0">
              <a:solidFill>
                <a:srgbClr val="000000"/>
              </a:solidFill>
              <a:latin typeface="Garet"/>
              <a:ea typeface="Garet"/>
              <a:cs typeface="Garet"/>
              <a:sym typeface="Garet"/>
            </a:endParaRPr>
          </a:p>
          <a:p>
            <a:pPr algn="just">
              <a:lnSpc>
                <a:spcPts val="2800"/>
              </a:lnSpc>
            </a:pPr>
            <a:r>
              <a:rPr lang="en-US" sz="2000" dirty="0">
                <a:solidFill>
                  <a:srgbClr val="000000"/>
                </a:solidFill>
                <a:latin typeface="Garet"/>
                <a:ea typeface="Garet"/>
                <a:cs typeface="Garet"/>
                <a:sym typeface="Garet"/>
              </a:rPr>
              <a:t>                     </a:t>
            </a:r>
            <a:r>
              <a:rPr lang="en-US" sz="2000" b="1" i="1" dirty="0">
                <a:solidFill>
                  <a:srgbClr val="000000"/>
                </a:solidFill>
                <a:latin typeface="Garet Bold Italics"/>
                <a:ea typeface="Garet Bold Italics"/>
                <a:cs typeface="Garet Bold Italics"/>
                <a:sym typeface="Garet Bold Italics"/>
              </a:rPr>
              <a:t>a. Fit a polynomial trendline.</a:t>
            </a:r>
          </a:p>
          <a:p>
            <a:pPr algn="just">
              <a:lnSpc>
                <a:spcPts val="2800"/>
              </a:lnSpc>
            </a:pPr>
            <a:endParaRPr lang="en-US" sz="2000" b="1" i="1" dirty="0">
              <a:solidFill>
                <a:srgbClr val="000000"/>
              </a:solidFill>
              <a:latin typeface="Garet Bold Italics"/>
              <a:ea typeface="Garet Bold Italics"/>
              <a:cs typeface="Garet Bold Italics"/>
              <a:sym typeface="Garet Bold Italics"/>
            </a:endParaRPr>
          </a:p>
          <a:p>
            <a:pPr algn="just">
              <a:lnSpc>
                <a:spcPts val="2800"/>
              </a:lnSpc>
            </a:pPr>
            <a:r>
              <a:rPr lang="en-US" sz="2000" b="1" i="1" dirty="0">
                <a:solidFill>
                  <a:srgbClr val="000000"/>
                </a:solidFill>
                <a:latin typeface="Garet Bold Italics"/>
                <a:ea typeface="Garet Bold Italics"/>
                <a:cs typeface="Garet Bold Italics"/>
                <a:sym typeface="Garet Bold Italics"/>
              </a:rPr>
              <a:t>                     b. Compare observed results with </a:t>
            </a:r>
          </a:p>
          <a:p>
            <a:pPr algn="just">
              <a:lnSpc>
                <a:spcPts val="2800"/>
              </a:lnSpc>
            </a:pPr>
            <a:r>
              <a:rPr lang="en-US" sz="2000" b="1" i="1" dirty="0">
                <a:solidFill>
                  <a:srgbClr val="000000"/>
                </a:solidFill>
                <a:latin typeface="Garet Bold Italics"/>
                <a:ea typeface="Garet Bold Italics"/>
                <a:cs typeface="Garet Bold Italics"/>
                <a:sym typeface="Garet Bold Italics"/>
              </a:rPr>
              <a:t>                     theoretical complexity.</a:t>
            </a:r>
          </a:p>
          <a:p>
            <a:pPr algn="just">
              <a:lnSpc>
                <a:spcPts val="2800"/>
              </a:lnSpc>
            </a:pPr>
            <a:endParaRPr lang="en-US" sz="2000" b="1" i="1" dirty="0">
              <a:solidFill>
                <a:srgbClr val="000000"/>
              </a:solidFill>
              <a:latin typeface="Garet Bold Italics"/>
              <a:ea typeface="Garet Bold Italics"/>
              <a:cs typeface="Garet Bold Italics"/>
              <a:sym typeface="Garet Bold Italics"/>
            </a:endParaRPr>
          </a:p>
        </p:txBody>
      </p:sp>
      <p:sp>
        <p:nvSpPr>
          <p:cNvPr id="9" name="TextBox 9"/>
          <p:cNvSpPr txBox="1"/>
          <p:nvPr/>
        </p:nvSpPr>
        <p:spPr>
          <a:xfrm>
            <a:off x="9144000" y="6978177"/>
            <a:ext cx="467670" cy="339714"/>
          </a:xfrm>
          <a:prstGeom prst="rect">
            <a:avLst/>
          </a:prstGeom>
        </p:spPr>
        <p:txBody>
          <a:bodyPr lIns="0" tIns="0" rIns="0" bIns="0" rtlCol="0" anchor="t">
            <a:spAutoFit/>
          </a:bodyPr>
          <a:lstStyle/>
          <a:p>
            <a:pPr algn="r">
              <a:lnSpc>
                <a:spcPts val="2800"/>
              </a:lnSpc>
            </a:pPr>
            <a:r>
              <a:rPr lang="en-US" sz="2000" b="1">
                <a:solidFill>
                  <a:srgbClr val="000000"/>
                </a:solidFill>
                <a:latin typeface="Garet Bold"/>
                <a:ea typeface="Garet Bold"/>
                <a:cs typeface="Garet Bold"/>
                <a:sym typeface="Garet Bold"/>
              </a:rPr>
              <a:t>03</a:t>
            </a:r>
          </a:p>
        </p:txBody>
      </p:sp>
      <p:sp>
        <p:nvSpPr>
          <p:cNvPr id="10" name="TextBox 10"/>
          <p:cNvSpPr txBox="1"/>
          <p:nvPr/>
        </p:nvSpPr>
        <p:spPr>
          <a:xfrm>
            <a:off x="9163050" y="5955756"/>
            <a:ext cx="467670" cy="339714"/>
          </a:xfrm>
          <a:prstGeom prst="rect">
            <a:avLst/>
          </a:prstGeom>
        </p:spPr>
        <p:txBody>
          <a:bodyPr lIns="0" tIns="0" rIns="0" bIns="0" rtlCol="0" anchor="t">
            <a:spAutoFit/>
          </a:bodyPr>
          <a:lstStyle/>
          <a:p>
            <a:pPr algn="r">
              <a:lnSpc>
                <a:spcPts val="2800"/>
              </a:lnSpc>
            </a:pPr>
            <a:r>
              <a:rPr lang="en-US" sz="2000" b="1" dirty="0">
                <a:solidFill>
                  <a:srgbClr val="000000"/>
                </a:solidFill>
                <a:latin typeface="Garet Bold"/>
                <a:ea typeface="Garet Bold"/>
                <a:cs typeface="Garet Bold"/>
                <a:sym typeface="Garet Bold"/>
              </a:rPr>
              <a:t>02</a:t>
            </a:r>
          </a:p>
        </p:txBody>
      </p:sp>
      <p:sp>
        <p:nvSpPr>
          <p:cNvPr id="11" name="TextBox 11"/>
          <p:cNvSpPr txBox="1"/>
          <p:nvPr/>
        </p:nvSpPr>
        <p:spPr>
          <a:xfrm>
            <a:off x="9144000" y="4863695"/>
            <a:ext cx="467670" cy="339714"/>
          </a:xfrm>
          <a:prstGeom prst="rect">
            <a:avLst/>
          </a:prstGeom>
        </p:spPr>
        <p:txBody>
          <a:bodyPr lIns="0" tIns="0" rIns="0" bIns="0" rtlCol="0" anchor="t">
            <a:spAutoFit/>
          </a:bodyPr>
          <a:lstStyle/>
          <a:p>
            <a:pPr algn="r">
              <a:lnSpc>
                <a:spcPts val="2800"/>
              </a:lnSpc>
            </a:pPr>
            <a:r>
              <a:rPr lang="en-US" sz="2000" b="1" dirty="0">
                <a:solidFill>
                  <a:srgbClr val="000000"/>
                </a:solidFill>
                <a:latin typeface="Garet Bold"/>
                <a:ea typeface="Garet Bold"/>
                <a:cs typeface="Garet Bold"/>
                <a:sym typeface="Garet Bold"/>
              </a:rPr>
              <a:t>01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grpSp>
        <p:nvGrpSpPr>
          <p:cNvPr id="3" name="Group 3"/>
          <p:cNvGrpSpPr/>
          <p:nvPr/>
        </p:nvGrpSpPr>
        <p:grpSpPr>
          <a:xfrm>
            <a:off x="-4666711" y="-3658451"/>
            <a:ext cx="27760925" cy="13983548"/>
            <a:chOff x="839664" y="2489942"/>
            <a:chExt cx="37014567" cy="18644730"/>
          </a:xfrm>
        </p:grpSpPr>
        <p:sp>
          <p:nvSpPr>
            <p:cNvPr id="4" name="AutoShape 4"/>
            <p:cNvSpPr/>
            <p:nvPr/>
          </p:nvSpPr>
          <p:spPr>
            <a:xfrm flipV="1">
              <a:off x="10416823" y="8957917"/>
              <a:ext cx="17409419" cy="0"/>
            </a:xfrm>
            <a:prstGeom prst="line">
              <a:avLst/>
            </a:prstGeom>
            <a:ln w="12700" cap="rnd">
              <a:solidFill>
                <a:srgbClr val="2B2B2B"/>
              </a:solidFill>
              <a:prstDash val="solid"/>
              <a:headEnd type="none" w="sm" len="sm"/>
              <a:tailEnd type="none" w="sm" len="sm"/>
            </a:ln>
          </p:spPr>
          <p:txBody>
            <a:bodyPr/>
            <a:lstStyle/>
            <a:p>
              <a:endParaRPr lang="en-US"/>
            </a:p>
          </p:txBody>
        </p:sp>
        <p:sp>
          <p:nvSpPr>
            <p:cNvPr id="5" name="Freeform 5"/>
            <p:cNvSpPr/>
            <p:nvPr/>
          </p:nvSpPr>
          <p:spPr>
            <a:xfrm rot="3139819">
              <a:off x="29762536" y="1334841"/>
              <a:ext cx="6282540" cy="9900851"/>
            </a:xfrm>
            <a:custGeom>
              <a:avLst/>
              <a:gdLst/>
              <a:ahLst/>
              <a:cxnLst/>
              <a:rect l="l" t="t" r="r" b="b"/>
              <a:pathLst>
                <a:path w="6282540" h="9900851">
                  <a:moveTo>
                    <a:pt x="0" y="0"/>
                  </a:moveTo>
                  <a:lnTo>
                    <a:pt x="6282541" y="0"/>
                  </a:lnTo>
                  <a:lnTo>
                    <a:pt x="6282541" y="9900852"/>
                  </a:lnTo>
                  <a:lnTo>
                    <a:pt x="0" y="9900852"/>
                  </a:lnTo>
                  <a:lnTo>
                    <a:pt x="0" y="0"/>
                  </a:lnTo>
                  <a:close/>
                </a:path>
              </a:pathLst>
            </a:custGeom>
            <a:blipFill>
              <a:blip r:embed="rId3">
                <a:alphaModFix amt="36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2913612">
              <a:off x="2648820" y="680786"/>
              <a:ext cx="6282540" cy="9900851"/>
            </a:xfrm>
            <a:custGeom>
              <a:avLst/>
              <a:gdLst/>
              <a:ahLst/>
              <a:cxnLst/>
              <a:rect l="l" t="t" r="r" b="b"/>
              <a:pathLst>
                <a:path w="6282540" h="9900851">
                  <a:moveTo>
                    <a:pt x="0" y="0"/>
                  </a:moveTo>
                  <a:lnTo>
                    <a:pt x="6282540" y="0"/>
                  </a:lnTo>
                  <a:lnTo>
                    <a:pt x="6282540" y="9900851"/>
                  </a:lnTo>
                  <a:lnTo>
                    <a:pt x="0" y="9900851"/>
                  </a:lnTo>
                  <a:lnTo>
                    <a:pt x="0" y="0"/>
                  </a:lnTo>
                  <a:close/>
                </a:path>
              </a:pathLst>
            </a:custGeom>
            <a:blipFill>
              <a:blip r:embed="rId3">
                <a:alphaModFix amt="2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14744063" y="7709330"/>
              <a:ext cx="13196479" cy="1454327"/>
            </a:xfrm>
            <a:prstGeom prst="rect">
              <a:avLst/>
            </a:prstGeom>
          </p:spPr>
          <p:txBody>
            <a:bodyPr lIns="0" tIns="0" rIns="0" bIns="0" rtlCol="0" anchor="t">
              <a:spAutoFit/>
            </a:bodyPr>
            <a:lstStyle/>
            <a:p>
              <a:pPr marL="0" lvl="0" indent="0" algn="l">
                <a:lnSpc>
                  <a:spcPts val="7897"/>
                </a:lnSpc>
                <a:spcBef>
                  <a:spcPct val="0"/>
                </a:spcBef>
              </a:pPr>
              <a:r>
                <a:rPr lang="en-US" sz="7897" spc="-623">
                  <a:solidFill>
                    <a:srgbClr val="000000"/>
                  </a:solidFill>
                  <a:latin typeface="Archivo Black"/>
                  <a:ea typeface="Archivo Black"/>
                  <a:cs typeface="Archivo Black"/>
                  <a:sym typeface="Archivo Black"/>
                </a:rPr>
                <a:t>“Introduction:”</a:t>
              </a:r>
            </a:p>
          </p:txBody>
        </p:sp>
        <p:sp>
          <p:nvSpPr>
            <p:cNvPr id="8" name="TextBox 8"/>
            <p:cNvSpPr txBox="1"/>
            <p:nvPr/>
          </p:nvSpPr>
          <p:spPr>
            <a:xfrm>
              <a:off x="10226080" y="10049802"/>
              <a:ext cx="4517983" cy="1212621"/>
            </a:xfrm>
            <a:prstGeom prst="rect">
              <a:avLst/>
            </a:prstGeom>
          </p:spPr>
          <p:txBody>
            <a:bodyPr lIns="0" tIns="0" rIns="0" bIns="0" rtlCol="0" anchor="t">
              <a:spAutoFit/>
            </a:bodyPr>
            <a:lstStyle/>
            <a:p>
              <a:pPr marL="0" lvl="0" indent="0" algn="ctr">
                <a:lnSpc>
                  <a:spcPts val="6556"/>
                </a:lnSpc>
                <a:spcBef>
                  <a:spcPct val="0"/>
                </a:spcBef>
              </a:pPr>
              <a:r>
                <a:rPr lang="en-US" sz="6556" spc="-517">
                  <a:solidFill>
                    <a:srgbClr val="000000"/>
                  </a:solidFill>
                  <a:latin typeface="Archivo Black"/>
                  <a:ea typeface="Archivo Black"/>
                  <a:cs typeface="Archivo Black"/>
                  <a:sym typeface="Archivo Black"/>
                </a:rPr>
                <a:t>“Graph:”</a:t>
              </a:r>
            </a:p>
          </p:txBody>
        </p:sp>
        <p:sp>
          <p:nvSpPr>
            <p:cNvPr id="9" name="TextBox 9"/>
            <p:cNvSpPr txBox="1"/>
            <p:nvPr/>
          </p:nvSpPr>
          <p:spPr>
            <a:xfrm>
              <a:off x="20149577" y="12654687"/>
              <a:ext cx="10661879" cy="1206708"/>
            </a:xfrm>
            <a:prstGeom prst="rect">
              <a:avLst/>
            </a:prstGeom>
          </p:spPr>
          <p:txBody>
            <a:bodyPr lIns="0" tIns="0" rIns="0" bIns="0" rtlCol="0" anchor="t">
              <a:spAutoFit/>
            </a:bodyPr>
            <a:lstStyle/>
            <a:p>
              <a:pPr marL="0" lvl="0" indent="0" algn="l">
                <a:lnSpc>
                  <a:spcPts val="6556"/>
                </a:lnSpc>
                <a:spcBef>
                  <a:spcPct val="0"/>
                </a:spcBef>
              </a:pPr>
              <a:r>
                <a:rPr lang="en-US" sz="6556" spc="-517">
                  <a:solidFill>
                    <a:srgbClr val="000000"/>
                  </a:solidFill>
                  <a:latin typeface="Archivo Black"/>
                  <a:ea typeface="Archivo Black"/>
                  <a:cs typeface="Archivo Black"/>
                  <a:sym typeface="Archivo Black"/>
                </a:rPr>
                <a:t>“Adjacency Matrix:”</a:t>
              </a:r>
            </a:p>
          </p:txBody>
        </p:sp>
        <p:sp>
          <p:nvSpPr>
            <p:cNvPr id="10" name="TextBox 10"/>
            <p:cNvSpPr txBox="1"/>
            <p:nvPr/>
          </p:nvSpPr>
          <p:spPr>
            <a:xfrm>
              <a:off x="19839276" y="14547655"/>
              <a:ext cx="11282480" cy="5690247"/>
            </a:xfrm>
            <a:prstGeom prst="rect">
              <a:avLst/>
            </a:prstGeom>
          </p:spPr>
          <p:txBody>
            <a:bodyPr lIns="0" tIns="0" rIns="0" bIns="0" rtlCol="0" anchor="t">
              <a:spAutoFit/>
            </a:bodyPr>
            <a:lstStyle/>
            <a:p>
              <a:pPr algn="ctr">
                <a:lnSpc>
                  <a:spcPts val="3401"/>
                </a:lnSpc>
                <a:spcBef>
                  <a:spcPct val="0"/>
                </a:spcBef>
              </a:pPr>
              <a:r>
                <a:rPr lang="en-US" sz="2429" b="1">
                  <a:solidFill>
                    <a:srgbClr val="000000"/>
                  </a:solidFill>
                  <a:latin typeface="Garet Bold"/>
                  <a:ea typeface="Garet Bold"/>
                  <a:cs typeface="Garet Bold"/>
                  <a:sym typeface="Garet Bold"/>
                </a:rPr>
                <a:t>An adjacency matrix is a way to represent a graph using a grid of numbers. Each row and column in the grid represents a node (or vertex) in the graph.</a:t>
              </a:r>
            </a:p>
            <a:p>
              <a:pPr algn="ctr">
                <a:lnSpc>
                  <a:spcPts val="3401"/>
                </a:lnSpc>
                <a:spcBef>
                  <a:spcPct val="0"/>
                </a:spcBef>
              </a:pPr>
              <a:endParaRPr lang="en-US" sz="2429" b="1">
                <a:solidFill>
                  <a:srgbClr val="000000"/>
                </a:solidFill>
                <a:latin typeface="Garet Bold"/>
                <a:ea typeface="Garet Bold"/>
                <a:cs typeface="Garet Bold"/>
                <a:sym typeface="Garet Bold"/>
              </a:endParaRPr>
            </a:p>
            <a:p>
              <a:pPr algn="ctr">
                <a:lnSpc>
                  <a:spcPts val="3401"/>
                </a:lnSpc>
                <a:spcBef>
                  <a:spcPct val="0"/>
                </a:spcBef>
              </a:pPr>
              <a:r>
                <a:rPr lang="en-US" sz="2429" b="1">
                  <a:solidFill>
                    <a:srgbClr val="000000"/>
                  </a:solidFill>
                  <a:latin typeface="Garet Bold"/>
                  <a:ea typeface="Garet Bold"/>
                  <a:cs typeface="Garet Bold"/>
                  <a:sym typeface="Garet Bold"/>
                </a:rPr>
                <a:t>&gt;&gt;&gt;If there’s an edge (a connection) between two nodes, we put a 1 in the grid where the row and column intersect.</a:t>
              </a:r>
            </a:p>
            <a:p>
              <a:pPr algn="ctr">
                <a:lnSpc>
                  <a:spcPts val="3401"/>
                </a:lnSpc>
                <a:spcBef>
                  <a:spcPct val="0"/>
                </a:spcBef>
              </a:pPr>
              <a:endParaRPr lang="en-US" sz="2429" b="1">
                <a:solidFill>
                  <a:srgbClr val="000000"/>
                </a:solidFill>
                <a:latin typeface="Garet Bold"/>
                <a:ea typeface="Garet Bold"/>
                <a:cs typeface="Garet Bold"/>
                <a:sym typeface="Garet Bold"/>
              </a:endParaRPr>
            </a:p>
            <a:p>
              <a:pPr algn="l">
                <a:lnSpc>
                  <a:spcPts val="3401"/>
                </a:lnSpc>
                <a:spcBef>
                  <a:spcPct val="0"/>
                </a:spcBef>
              </a:pPr>
              <a:r>
                <a:rPr lang="en-US" sz="2429" b="1">
                  <a:solidFill>
                    <a:srgbClr val="000000"/>
                  </a:solidFill>
                  <a:latin typeface="Garet Bold"/>
                  <a:ea typeface="Garet Bold"/>
                  <a:cs typeface="Garet Bold"/>
                  <a:sym typeface="Garet Bold"/>
                </a:rPr>
                <a:t>   &gt;&gt;&gt;If there’s no edge, we put a 0.</a:t>
              </a:r>
            </a:p>
            <a:p>
              <a:pPr algn="ctr">
                <a:lnSpc>
                  <a:spcPts val="3401"/>
                </a:lnSpc>
                <a:spcBef>
                  <a:spcPct val="0"/>
                </a:spcBef>
              </a:pPr>
              <a:endParaRPr lang="en-US" sz="2429" b="1">
                <a:solidFill>
                  <a:srgbClr val="000000"/>
                </a:solidFill>
                <a:latin typeface="Garet Bold"/>
                <a:ea typeface="Garet Bold"/>
                <a:cs typeface="Garet Bold"/>
                <a:sym typeface="Garet Bold"/>
              </a:endParaRPr>
            </a:p>
          </p:txBody>
        </p:sp>
        <p:sp>
          <p:nvSpPr>
            <p:cNvPr id="11" name="TextBox 11"/>
            <p:cNvSpPr txBox="1"/>
            <p:nvPr/>
          </p:nvSpPr>
          <p:spPr>
            <a:xfrm>
              <a:off x="6671857" y="11444827"/>
              <a:ext cx="12116854" cy="1452443"/>
            </a:xfrm>
            <a:prstGeom prst="rect">
              <a:avLst/>
            </a:prstGeom>
          </p:spPr>
          <p:txBody>
            <a:bodyPr lIns="0" tIns="0" rIns="0" bIns="0" rtlCol="0" anchor="t">
              <a:spAutoFit/>
            </a:bodyPr>
            <a:lstStyle/>
            <a:p>
              <a:pPr algn="ctr">
                <a:lnSpc>
                  <a:spcPts val="2919"/>
                </a:lnSpc>
                <a:spcBef>
                  <a:spcPct val="0"/>
                </a:spcBef>
              </a:pPr>
              <a:r>
                <a:rPr lang="en-US" sz="2085" b="1">
                  <a:solidFill>
                    <a:srgbClr val="000000"/>
                  </a:solidFill>
                  <a:latin typeface="Garet Bold"/>
                  <a:ea typeface="Garet Bold"/>
                  <a:cs typeface="Garet Bold"/>
                  <a:sym typeface="Garet Bold"/>
                </a:rPr>
                <a:t>A graph is a collection of nodes (vertices) and edges (connections) that represent relationships or associations between pairs of nodes.</a:t>
              </a:r>
            </a:p>
          </p:txBody>
        </p:sp>
        <p:sp>
          <p:nvSpPr>
            <p:cNvPr id="12" name="TextBox 12"/>
            <p:cNvSpPr txBox="1"/>
            <p:nvPr/>
          </p:nvSpPr>
          <p:spPr>
            <a:xfrm>
              <a:off x="7013638" y="13475843"/>
              <a:ext cx="12104995" cy="1907473"/>
            </a:xfrm>
            <a:prstGeom prst="rect">
              <a:avLst/>
            </a:prstGeom>
          </p:spPr>
          <p:txBody>
            <a:bodyPr lIns="0" tIns="0" rIns="0" bIns="0" rtlCol="0" anchor="t">
              <a:spAutoFit/>
            </a:bodyPr>
            <a:lstStyle/>
            <a:p>
              <a:pPr algn="ctr">
                <a:lnSpc>
                  <a:spcPts val="2919"/>
                </a:lnSpc>
              </a:pPr>
              <a:r>
                <a:rPr lang="en-US" sz="2085" b="1">
                  <a:solidFill>
                    <a:srgbClr val="000000"/>
                  </a:solidFill>
                  <a:latin typeface="Garet Bold"/>
                  <a:ea typeface="Garet Bold"/>
                  <a:cs typeface="Garet Bold"/>
                  <a:sym typeface="Garet Bold"/>
                </a:rPr>
                <a:t>A graph can be classified into two types:</a:t>
              </a:r>
            </a:p>
            <a:p>
              <a:pPr algn="ctr">
                <a:lnSpc>
                  <a:spcPts val="2919"/>
                </a:lnSpc>
              </a:pPr>
              <a:endParaRPr lang="en-US" sz="2085" b="1">
                <a:solidFill>
                  <a:srgbClr val="000000"/>
                </a:solidFill>
                <a:latin typeface="Garet Bold"/>
                <a:ea typeface="Garet Bold"/>
                <a:cs typeface="Garet Bold"/>
                <a:sym typeface="Garet Bold"/>
              </a:endParaRPr>
            </a:p>
            <a:p>
              <a:pPr algn="l">
                <a:lnSpc>
                  <a:spcPts val="2919"/>
                </a:lnSpc>
              </a:pPr>
              <a:r>
                <a:rPr lang="en-US" sz="2085">
                  <a:solidFill>
                    <a:srgbClr val="000000"/>
                  </a:solidFill>
                  <a:latin typeface="Garet"/>
                  <a:ea typeface="Garet"/>
                  <a:cs typeface="Garet"/>
                  <a:sym typeface="Garet"/>
                </a:rPr>
                <a:t>                      </a:t>
              </a:r>
              <a:r>
                <a:rPr lang="en-US" sz="2085" b="1">
                  <a:solidFill>
                    <a:srgbClr val="000000"/>
                  </a:solidFill>
                  <a:latin typeface="Garet Bold"/>
                  <a:ea typeface="Garet Bold"/>
                  <a:cs typeface="Garet Bold"/>
                  <a:sym typeface="Garet Bold"/>
                </a:rPr>
                <a:t>      1. Undirected Graph: </a:t>
              </a:r>
            </a:p>
            <a:p>
              <a:pPr algn="l">
                <a:lnSpc>
                  <a:spcPts val="2919"/>
                </a:lnSpc>
                <a:spcBef>
                  <a:spcPct val="0"/>
                </a:spcBef>
              </a:pPr>
              <a:r>
                <a:rPr lang="en-US" sz="2085" b="1">
                  <a:solidFill>
                    <a:srgbClr val="000000"/>
                  </a:solidFill>
                  <a:latin typeface="Garet Bold"/>
                  <a:ea typeface="Garet Bold"/>
                  <a:cs typeface="Garet Bold"/>
                  <a:sym typeface="Garet Bold"/>
                </a:rPr>
                <a:t>                             2. Directed Graph (Digraph):</a:t>
              </a:r>
            </a:p>
          </p:txBody>
        </p:sp>
        <p:sp>
          <p:nvSpPr>
            <p:cNvPr id="13" name="TextBox 13"/>
            <p:cNvSpPr txBox="1"/>
            <p:nvPr/>
          </p:nvSpPr>
          <p:spPr>
            <a:xfrm>
              <a:off x="7251560" y="18455260"/>
              <a:ext cx="12104995" cy="1966436"/>
            </a:xfrm>
            <a:prstGeom prst="rect">
              <a:avLst/>
            </a:prstGeom>
          </p:spPr>
          <p:txBody>
            <a:bodyPr lIns="0" tIns="0" rIns="0" bIns="0" rtlCol="0" anchor="t">
              <a:spAutoFit/>
            </a:bodyPr>
            <a:lstStyle/>
            <a:p>
              <a:pPr algn="ctr">
                <a:lnSpc>
                  <a:spcPts val="2919"/>
                </a:lnSpc>
                <a:spcBef>
                  <a:spcPct val="0"/>
                </a:spcBef>
              </a:pPr>
              <a:r>
                <a:rPr lang="en-US" sz="2085" b="1" dirty="0">
                  <a:solidFill>
                    <a:srgbClr val="000000"/>
                  </a:solidFill>
                  <a:latin typeface="Garet Bold"/>
                  <a:ea typeface="Garet Bold"/>
                  <a:cs typeface="Garet Bold"/>
                  <a:sym typeface="Garet Bold"/>
                </a:rPr>
                <a:t>An undirected graph is a type of graph in which the edges have no direction. This means that if there is an edge between two vertices, say A and B, you can travel from A to B and also from B to A without restriction.</a:t>
              </a:r>
            </a:p>
          </p:txBody>
        </p:sp>
        <p:sp>
          <p:nvSpPr>
            <p:cNvPr id="14" name="TextBox 14"/>
            <p:cNvSpPr txBox="1"/>
            <p:nvPr/>
          </p:nvSpPr>
          <p:spPr>
            <a:xfrm>
              <a:off x="9834548" y="17985799"/>
              <a:ext cx="6463175" cy="492100"/>
            </a:xfrm>
            <a:prstGeom prst="rect">
              <a:avLst/>
            </a:prstGeom>
          </p:spPr>
          <p:txBody>
            <a:bodyPr lIns="0" tIns="0" rIns="0" bIns="0" rtlCol="0" anchor="t">
              <a:spAutoFit/>
            </a:bodyPr>
            <a:lstStyle/>
            <a:p>
              <a:pPr marL="0" lvl="0" indent="0" algn="ctr">
                <a:lnSpc>
                  <a:spcPts val="2799"/>
                </a:lnSpc>
                <a:spcBef>
                  <a:spcPct val="0"/>
                </a:spcBef>
              </a:pPr>
              <a:r>
                <a:rPr lang="en-US" sz="2799" spc="-221" dirty="0">
                  <a:solidFill>
                    <a:srgbClr val="000000"/>
                  </a:solidFill>
                  <a:latin typeface="Archivo Black"/>
                  <a:ea typeface="Archivo Black"/>
                  <a:cs typeface="Archivo Black"/>
                  <a:sym typeface="Archivo Black"/>
                </a:rPr>
                <a:t>“Undirected Graph:”</a:t>
              </a:r>
            </a:p>
          </p:txBody>
        </p:sp>
        <p:sp>
          <p:nvSpPr>
            <p:cNvPr id="15" name="TextBox 15"/>
            <p:cNvSpPr txBox="1"/>
            <p:nvPr/>
          </p:nvSpPr>
          <p:spPr>
            <a:xfrm>
              <a:off x="7238860" y="16070971"/>
              <a:ext cx="12104995" cy="942243"/>
            </a:xfrm>
            <a:prstGeom prst="rect">
              <a:avLst/>
            </a:prstGeom>
          </p:spPr>
          <p:txBody>
            <a:bodyPr lIns="0" tIns="0" rIns="0" bIns="0" rtlCol="0" anchor="t">
              <a:spAutoFit/>
            </a:bodyPr>
            <a:lstStyle/>
            <a:p>
              <a:pPr algn="ctr">
                <a:lnSpc>
                  <a:spcPts val="2919"/>
                </a:lnSpc>
                <a:spcBef>
                  <a:spcPct val="0"/>
                </a:spcBef>
              </a:pPr>
              <a:r>
                <a:rPr lang="en-US" sz="2085" b="1">
                  <a:solidFill>
                    <a:srgbClr val="000000"/>
                  </a:solidFill>
                  <a:latin typeface="Garet Bold"/>
                  <a:ea typeface="Garet Bold"/>
                  <a:cs typeface="Garet Bold"/>
                  <a:sym typeface="Garet Bold"/>
                </a:rPr>
                <a:t>In the project we only use directed graph. So the defination of the directed graph are given below:</a:t>
              </a:r>
            </a:p>
          </p:txBody>
        </p:sp>
        <p:sp>
          <p:nvSpPr>
            <p:cNvPr id="16" name="AutoShape 16"/>
            <p:cNvSpPr/>
            <p:nvPr/>
          </p:nvSpPr>
          <p:spPr>
            <a:xfrm>
              <a:off x="19597916" y="11102519"/>
              <a:ext cx="0" cy="10032153"/>
            </a:xfrm>
            <a:prstGeom prst="line">
              <a:avLst/>
            </a:prstGeom>
            <a:ln w="50800" cap="flat">
              <a:solidFill>
                <a:srgbClr val="000000"/>
              </a:solidFill>
              <a:prstDash val="solid"/>
              <a:headEnd type="none" w="sm" len="sm"/>
              <a:tailEnd type="none" w="sm" len="sm"/>
            </a:ln>
          </p:spPr>
          <p:txBody>
            <a:bodyPr/>
            <a:lstStyle/>
            <a:p>
              <a:endParaRPr 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dirty="0"/>
          </a:p>
        </p:txBody>
      </p:sp>
      <p:sp>
        <p:nvSpPr>
          <p:cNvPr id="3" name="AutoShape 3"/>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en-US"/>
          </a:p>
        </p:txBody>
      </p:sp>
      <p:sp>
        <p:nvSpPr>
          <p:cNvPr id="4" name="AutoShape 4"/>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en-US"/>
          </a:p>
        </p:txBody>
      </p:sp>
      <p:sp>
        <p:nvSpPr>
          <p:cNvPr id="5" name="AutoShape 5"/>
          <p:cNvSpPr/>
          <p:nvPr/>
        </p:nvSpPr>
        <p:spPr>
          <a:xfrm>
            <a:off x="1619847" y="4302017"/>
            <a:ext cx="13838306" cy="0"/>
          </a:xfrm>
          <a:prstGeom prst="line">
            <a:avLst/>
          </a:prstGeom>
          <a:ln w="19050" cap="rnd">
            <a:solidFill>
              <a:srgbClr val="000000"/>
            </a:solidFill>
            <a:prstDash val="solid"/>
            <a:headEnd type="none" w="sm" len="sm"/>
            <a:tailEnd type="none" w="sm" len="sm"/>
          </a:ln>
        </p:spPr>
        <p:txBody>
          <a:bodyPr/>
          <a:lstStyle/>
          <a:p>
            <a:endParaRPr lang="en-US"/>
          </a:p>
        </p:txBody>
      </p:sp>
      <p:sp>
        <p:nvSpPr>
          <p:cNvPr id="6" name="Freeform 6"/>
          <p:cNvSpPr/>
          <p:nvPr/>
        </p:nvSpPr>
        <p:spPr>
          <a:xfrm rot="5400000">
            <a:off x="15841552" y="3094370"/>
            <a:ext cx="1629446" cy="2396244"/>
          </a:xfrm>
          <a:custGeom>
            <a:avLst/>
            <a:gdLst/>
            <a:ahLst/>
            <a:cxnLst/>
            <a:rect l="l" t="t" r="r" b="b"/>
            <a:pathLst>
              <a:path w="1629446" h="2396244">
                <a:moveTo>
                  <a:pt x="0" y="0"/>
                </a:moveTo>
                <a:lnTo>
                  <a:pt x="1629446" y="0"/>
                </a:lnTo>
                <a:lnTo>
                  <a:pt x="1629446" y="2396244"/>
                </a:lnTo>
                <a:lnTo>
                  <a:pt x="0" y="23962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TextBox 7"/>
          <p:cNvSpPr txBox="1"/>
          <p:nvPr/>
        </p:nvSpPr>
        <p:spPr>
          <a:xfrm>
            <a:off x="5631598" y="618203"/>
            <a:ext cx="7462459" cy="1023396"/>
          </a:xfrm>
          <a:prstGeom prst="rect">
            <a:avLst/>
          </a:prstGeom>
        </p:spPr>
        <p:txBody>
          <a:bodyPr lIns="0" tIns="0" rIns="0" bIns="0" rtlCol="0" anchor="t">
            <a:spAutoFit/>
          </a:bodyPr>
          <a:lstStyle/>
          <a:p>
            <a:pPr marL="0" lvl="0" indent="0" algn="l">
              <a:lnSpc>
                <a:spcPts val="7626"/>
              </a:lnSpc>
              <a:spcBef>
                <a:spcPct val="0"/>
              </a:spcBef>
            </a:pPr>
            <a:r>
              <a:rPr lang="en-US" sz="7626" spc="-602">
                <a:solidFill>
                  <a:srgbClr val="000000"/>
                </a:solidFill>
                <a:latin typeface="Archivo Black"/>
                <a:ea typeface="Archivo Black"/>
                <a:cs typeface="Archivo Black"/>
                <a:sym typeface="Archivo Black"/>
              </a:rPr>
              <a:t>“Methodology:”</a:t>
            </a:r>
          </a:p>
        </p:txBody>
      </p:sp>
      <p:sp>
        <p:nvSpPr>
          <p:cNvPr id="8" name="TextBox 8"/>
          <p:cNvSpPr txBox="1"/>
          <p:nvPr/>
        </p:nvSpPr>
        <p:spPr>
          <a:xfrm>
            <a:off x="5812171" y="1771666"/>
            <a:ext cx="6720560" cy="339714"/>
          </a:xfrm>
          <a:prstGeom prst="rect">
            <a:avLst/>
          </a:prstGeom>
        </p:spPr>
        <p:txBody>
          <a:bodyPr lIns="0" tIns="0" rIns="0" bIns="0" rtlCol="0" anchor="t">
            <a:spAutoFit/>
          </a:bodyPr>
          <a:lstStyle/>
          <a:p>
            <a:pPr marL="0" lvl="0" indent="0" algn="l">
              <a:lnSpc>
                <a:spcPts val="2800"/>
              </a:lnSpc>
              <a:spcBef>
                <a:spcPct val="0"/>
              </a:spcBef>
            </a:pPr>
            <a:r>
              <a:rPr lang="en-US" sz="2000" u="none">
                <a:solidFill>
                  <a:srgbClr val="000000"/>
                </a:solidFill>
                <a:latin typeface="Garet"/>
                <a:ea typeface="Garet"/>
                <a:cs typeface="Garet"/>
                <a:sym typeface="Garet"/>
              </a:rPr>
              <a:t>Briefly discuss the key Steps for the project.</a:t>
            </a:r>
          </a:p>
        </p:txBody>
      </p:sp>
      <p:grpSp>
        <p:nvGrpSpPr>
          <p:cNvPr id="9" name="Group 9"/>
          <p:cNvGrpSpPr/>
          <p:nvPr/>
        </p:nvGrpSpPr>
        <p:grpSpPr>
          <a:xfrm>
            <a:off x="949429" y="5640593"/>
            <a:ext cx="2838847" cy="1177398"/>
            <a:chOff x="0" y="0"/>
            <a:chExt cx="3785129" cy="1569864"/>
          </a:xfrm>
        </p:grpSpPr>
        <p:sp>
          <p:nvSpPr>
            <p:cNvPr id="10" name="TextBox 10"/>
            <p:cNvSpPr txBox="1"/>
            <p:nvPr/>
          </p:nvSpPr>
          <p:spPr>
            <a:xfrm>
              <a:off x="0" y="-28575"/>
              <a:ext cx="3785129" cy="532319"/>
            </a:xfrm>
            <a:prstGeom prst="rect">
              <a:avLst/>
            </a:prstGeom>
          </p:spPr>
          <p:txBody>
            <a:bodyPr lIns="0" tIns="0" rIns="0" bIns="0" rtlCol="0" anchor="t">
              <a:spAutoFit/>
            </a:bodyPr>
            <a:lstStyle/>
            <a:p>
              <a:pPr marL="0" lvl="0" indent="0" algn="l">
                <a:lnSpc>
                  <a:spcPts val="3249"/>
                </a:lnSpc>
                <a:spcBef>
                  <a:spcPct val="0"/>
                </a:spcBef>
              </a:pPr>
              <a:r>
                <a:rPr lang="en-US" sz="2499" b="1">
                  <a:solidFill>
                    <a:srgbClr val="000000"/>
                  </a:solidFill>
                  <a:latin typeface="Garet Bold"/>
                  <a:ea typeface="Garet Bold"/>
                  <a:cs typeface="Garet Bold"/>
                  <a:sym typeface="Garet Bold"/>
                </a:rPr>
                <a:t>1st Step:</a:t>
              </a:r>
            </a:p>
          </p:txBody>
        </p:sp>
        <p:sp>
          <p:nvSpPr>
            <p:cNvPr id="11" name="TextBox 11"/>
            <p:cNvSpPr txBox="1"/>
            <p:nvPr/>
          </p:nvSpPr>
          <p:spPr>
            <a:xfrm>
              <a:off x="0" y="622837"/>
              <a:ext cx="3785129" cy="947027"/>
            </a:xfrm>
            <a:prstGeom prst="rect">
              <a:avLst/>
            </a:prstGeom>
          </p:spPr>
          <p:txBody>
            <a:bodyPr lIns="0" tIns="0" rIns="0" bIns="0" rtlCol="0" anchor="t">
              <a:spAutoFit/>
            </a:bodyPr>
            <a:lstStyle/>
            <a:p>
              <a:pPr marL="0" lvl="0" indent="0" algn="l">
                <a:lnSpc>
                  <a:spcPts val="2859"/>
                </a:lnSpc>
                <a:spcBef>
                  <a:spcPct val="0"/>
                </a:spcBef>
              </a:pPr>
              <a:r>
                <a:rPr lang="en-US" sz="2199">
                  <a:solidFill>
                    <a:srgbClr val="000000"/>
                  </a:solidFill>
                  <a:latin typeface="Garet"/>
                  <a:ea typeface="Garet"/>
                  <a:cs typeface="Garet"/>
                  <a:sym typeface="Garet"/>
                </a:rPr>
                <a:t>Generate adjacency matrix.</a:t>
              </a:r>
            </a:p>
          </p:txBody>
        </p:sp>
      </p:grpSp>
      <p:grpSp>
        <p:nvGrpSpPr>
          <p:cNvPr id="12" name="Group 12"/>
          <p:cNvGrpSpPr/>
          <p:nvPr/>
        </p:nvGrpSpPr>
        <p:grpSpPr>
          <a:xfrm>
            <a:off x="5005388" y="5640615"/>
            <a:ext cx="2277734" cy="1177398"/>
            <a:chOff x="0" y="0"/>
            <a:chExt cx="3036979" cy="1569864"/>
          </a:xfrm>
        </p:grpSpPr>
        <p:sp>
          <p:nvSpPr>
            <p:cNvPr id="13" name="TextBox 13"/>
            <p:cNvSpPr txBox="1"/>
            <p:nvPr/>
          </p:nvSpPr>
          <p:spPr>
            <a:xfrm>
              <a:off x="0" y="-28575"/>
              <a:ext cx="3036979" cy="532319"/>
            </a:xfrm>
            <a:prstGeom prst="rect">
              <a:avLst/>
            </a:prstGeom>
          </p:spPr>
          <p:txBody>
            <a:bodyPr lIns="0" tIns="0" rIns="0" bIns="0" rtlCol="0" anchor="t">
              <a:spAutoFit/>
            </a:bodyPr>
            <a:lstStyle/>
            <a:p>
              <a:pPr marL="0" lvl="0" indent="0" algn="l">
                <a:lnSpc>
                  <a:spcPts val="3249"/>
                </a:lnSpc>
                <a:spcBef>
                  <a:spcPct val="0"/>
                </a:spcBef>
              </a:pPr>
              <a:r>
                <a:rPr lang="en-US" sz="2499" b="1">
                  <a:solidFill>
                    <a:srgbClr val="000000"/>
                  </a:solidFill>
                  <a:latin typeface="Garet Bold"/>
                  <a:ea typeface="Garet Bold"/>
                  <a:cs typeface="Garet Bold"/>
                  <a:sym typeface="Garet Bold"/>
                </a:rPr>
                <a:t>2nd Step:</a:t>
              </a:r>
            </a:p>
          </p:txBody>
        </p:sp>
        <p:sp>
          <p:nvSpPr>
            <p:cNvPr id="14" name="TextBox 14"/>
            <p:cNvSpPr txBox="1"/>
            <p:nvPr/>
          </p:nvSpPr>
          <p:spPr>
            <a:xfrm>
              <a:off x="0" y="622837"/>
              <a:ext cx="3036979" cy="947027"/>
            </a:xfrm>
            <a:prstGeom prst="rect">
              <a:avLst/>
            </a:prstGeom>
          </p:spPr>
          <p:txBody>
            <a:bodyPr lIns="0" tIns="0" rIns="0" bIns="0" rtlCol="0" anchor="t">
              <a:spAutoFit/>
            </a:bodyPr>
            <a:lstStyle/>
            <a:p>
              <a:pPr marL="0" lvl="0" indent="0" algn="l">
                <a:lnSpc>
                  <a:spcPts val="2859"/>
                </a:lnSpc>
                <a:spcBef>
                  <a:spcPct val="0"/>
                </a:spcBef>
              </a:pPr>
              <a:r>
                <a:rPr lang="en-US" sz="2199">
                  <a:solidFill>
                    <a:srgbClr val="000000"/>
                  </a:solidFill>
                  <a:latin typeface="Garet"/>
                  <a:ea typeface="Garet"/>
                  <a:cs typeface="Garet"/>
                  <a:sym typeface="Garet"/>
                </a:rPr>
                <a:t>Populate with random edges</a:t>
              </a:r>
            </a:p>
          </p:txBody>
        </p:sp>
      </p:grpSp>
      <p:grpSp>
        <p:nvGrpSpPr>
          <p:cNvPr id="15" name="Group 15"/>
          <p:cNvGrpSpPr/>
          <p:nvPr/>
        </p:nvGrpSpPr>
        <p:grpSpPr>
          <a:xfrm>
            <a:off x="8982075" y="5619184"/>
            <a:ext cx="3175515" cy="852120"/>
            <a:chOff x="0" y="-28575"/>
            <a:chExt cx="4234020" cy="1136160"/>
          </a:xfrm>
        </p:grpSpPr>
        <p:sp>
          <p:nvSpPr>
            <p:cNvPr id="16" name="TextBox 16"/>
            <p:cNvSpPr txBox="1"/>
            <p:nvPr/>
          </p:nvSpPr>
          <p:spPr>
            <a:xfrm>
              <a:off x="0" y="-28575"/>
              <a:ext cx="4234020" cy="532319"/>
            </a:xfrm>
            <a:prstGeom prst="rect">
              <a:avLst/>
            </a:prstGeom>
          </p:spPr>
          <p:txBody>
            <a:bodyPr lIns="0" tIns="0" rIns="0" bIns="0" rtlCol="0" anchor="t">
              <a:spAutoFit/>
            </a:bodyPr>
            <a:lstStyle/>
            <a:p>
              <a:pPr marL="0" lvl="0" indent="0" algn="l">
                <a:lnSpc>
                  <a:spcPts val="3249"/>
                </a:lnSpc>
                <a:spcBef>
                  <a:spcPct val="0"/>
                </a:spcBef>
              </a:pPr>
              <a:r>
                <a:rPr lang="en-US" sz="2499" b="1">
                  <a:solidFill>
                    <a:srgbClr val="000000"/>
                  </a:solidFill>
                  <a:latin typeface="Garet Bold"/>
                  <a:ea typeface="Garet Bold"/>
                  <a:cs typeface="Garet Bold"/>
                  <a:sym typeface="Garet Bold"/>
                </a:rPr>
                <a:t>3rd Step:</a:t>
              </a:r>
            </a:p>
          </p:txBody>
        </p:sp>
        <p:sp>
          <p:nvSpPr>
            <p:cNvPr id="17" name="TextBox 17"/>
            <p:cNvSpPr txBox="1"/>
            <p:nvPr/>
          </p:nvSpPr>
          <p:spPr>
            <a:xfrm>
              <a:off x="0" y="622837"/>
              <a:ext cx="4234020" cy="484748"/>
            </a:xfrm>
            <a:prstGeom prst="rect">
              <a:avLst/>
            </a:prstGeom>
          </p:spPr>
          <p:txBody>
            <a:bodyPr lIns="0" tIns="0" rIns="0" bIns="0" rtlCol="0" anchor="t">
              <a:spAutoFit/>
            </a:bodyPr>
            <a:lstStyle/>
            <a:p>
              <a:pPr marL="0" lvl="0" indent="0" algn="l">
                <a:lnSpc>
                  <a:spcPts val="2859"/>
                </a:lnSpc>
                <a:spcBef>
                  <a:spcPct val="0"/>
                </a:spcBef>
              </a:pPr>
              <a:r>
                <a:rPr lang="en-US" sz="2199" dirty="0">
                  <a:solidFill>
                    <a:srgbClr val="000000"/>
                  </a:solidFill>
                  <a:latin typeface="Garet"/>
                  <a:ea typeface="Garet"/>
                  <a:cs typeface="Garet"/>
                  <a:sym typeface="Garet"/>
                </a:rPr>
                <a:t>Compute degrees</a:t>
              </a:r>
            </a:p>
          </p:txBody>
        </p:sp>
      </p:grpSp>
      <p:grpSp>
        <p:nvGrpSpPr>
          <p:cNvPr id="18" name="Group 18"/>
          <p:cNvGrpSpPr/>
          <p:nvPr/>
        </p:nvGrpSpPr>
        <p:grpSpPr>
          <a:xfrm>
            <a:off x="12963582" y="5640615"/>
            <a:ext cx="3525441" cy="1177398"/>
            <a:chOff x="0" y="0"/>
            <a:chExt cx="4700588" cy="1569864"/>
          </a:xfrm>
        </p:grpSpPr>
        <p:sp>
          <p:nvSpPr>
            <p:cNvPr id="19" name="TextBox 19"/>
            <p:cNvSpPr txBox="1"/>
            <p:nvPr/>
          </p:nvSpPr>
          <p:spPr>
            <a:xfrm>
              <a:off x="0" y="-28575"/>
              <a:ext cx="4700588" cy="532319"/>
            </a:xfrm>
            <a:prstGeom prst="rect">
              <a:avLst/>
            </a:prstGeom>
          </p:spPr>
          <p:txBody>
            <a:bodyPr lIns="0" tIns="0" rIns="0" bIns="0" rtlCol="0" anchor="t">
              <a:spAutoFit/>
            </a:bodyPr>
            <a:lstStyle/>
            <a:p>
              <a:pPr marL="0" lvl="0" indent="0" algn="l">
                <a:lnSpc>
                  <a:spcPts val="3249"/>
                </a:lnSpc>
                <a:spcBef>
                  <a:spcPct val="0"/>
                </a:spcBef>
              </a:pPr>
              <a:r>
                <a:rPr lang="en-US" sz="2499" b="1">
                  <a:solidFill>
                    <a:srgbClr val="000000"/>
                  </a:solidFill>
                  <a:latin typeface="Garet Bold"/>
                  <a:ea typeface="Garet Bold"/>
                  <a:cs typeface="Garet Bold"/>
                  <a:sym typeface="Garet Bold"/>
                </a:rPr>
                <a:t>4th Step:</a:t>
              </a:r>
            </a:p>
          </p:txBody>
        </p:sp>
        <p:sp>
          <p:nvSpPr>
            <p:cNvPr id="20" name="TextBox 20"/>
            <p:cNvSpPr txBox="1"/>
            <p:nvPr/>
          </p:nvSpPr>
          <p:spPr>
            <a:xfrm>
              <a:off x="0" y="622837"/>
              <a:ext cx="4700588" cy="947027"/>
            </a:xfrm>
            <a:prstGeom prst="rect">
              <a:avLst/>
            </a:prstGeom>
          </p:spPr>
          <p:txBody>
            <a:bodyPr lIns="0" tIns="0" rIns="0" bIns="0" rtlCol="0" anchor="t">
              <a:spAutoFit/>
            </a:bodyPr>
            <a:lstStyle/>
            <a:p>
              <a:pPr marL="0" lvl="0" indent="0" algn="l">
                <a:lnSpc>
                  <a:spcPts val="2859"/>
                </a:lnSpc>
                <a:spcBef>
                  <a:spcPct val="0"/>
                </a:spcBef>
              </a:pPr>
              <a:r>
                <a:rPr lang="en-US" sz="2199">
                  <a:solidFill>
                    <a:srgbClr val="000000"/>
                  </a:solidFill>
                  <a:latin typeface="Garet"/>
                  <a:ea typeface="Garet"/>
                  <a:cs typeface="Garet"/>
                  <a:sym typeface="Garet"/>
                </a:rPr>
                <a:t>Measure computational time.</a:t>
              </a:r>
            </a:p>
          </p:txBody>
        </p:sp>
      </p:grpSp>
      <p:sp>
        <p:nvSpPr>
          <p:cNvPr id="21" name="Freeform 21"/>
          <p:cNvSpPr/>
          <p:nvPr/>
        </p:nvSpPr>
        <p:spPr>
          <a:xfrm>
            <a:off x="1517169" y="4111641"/>
            <a:ext cx="380752" cy="380752"/>
          </a:xfrm>
          <a:custGeom>
            <a:avLst/>
            <a:gdLst/>
            <a:ahLst/>
            <a:cxnLst/>
            <a:rect l="l" t="t" r="r" b="b"/>
            <a:pathLst>
              <a:path w="380752" h="380752">
                <a:moveTo>
                  <a:pt x="0" y="0"/>
                </a:moveTo>
                <a:lnTo>
                  <a:pt x="380752" y="0"/>
                </a:lnTo>
                <a:lnTo>
                  <a:pt x="380752" y="380752"/>
                </a:lnTo>
                <a:lnTo>
                  <a:pt x="0" y="38075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2" name="Freeform 22"/>
          <p:cNvSpPr/>
          <p:nvPr/>
        </p:nvSpPr>
        <p:spPr>
          <a:xfrm>
            <a:off x="5441221" y="4111641"/>
            <a:ext cx="380752" cy="380752"/>
          </a:xfrm>
          <a:custGeom>
            <a:avLst/>
            <a:gdLst/>
            <a:ahLst/>
            <a:cxnLst/>
            <a:rect l="l" t="t" r="r" b="b"/>
            <a:pathLst>
              <a:path w="380752" h="380752">
                <a:moveTo>
                  <a:pt x="0" y="0"/>
                </a:moveTo>
                <a:lnTo>
                  <a:pt x="380753" y="0"/>
                </a:lnTo>
                <a:lnTo>
                  <a:pt x="380753" y="380752"/>
                </a:lnTo>
                <a:lnTo>
                  <a:pt x="0" y="38075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3" name="Freeform 23"/>
          <p:cNvSpPr/>
          <p:nvPr/>
        </p:nvSpPr>
        <p:spPr>
          <a:xfrm>
            <a:off x="9487077" y="4102116"/>
            <a:ext cx="380752" cy="380752"/>
          </a:xfrm>
          <a:custGeom>
            <a:avLst/>
            <a:gdLst/>
            <a:ahLst/>
            <a:cxnLst/>
            <a:rect l="l" t="t" r="r" b="b"/>
            <a:pathLst>
              <a:path w="380752" h="380752">
                <a:moveTo>
                  <a:pt x="0" y="0"/>
                </a:moveTo>
                <a:lnTo>
                  <a:pt x="380752" y="0"/>
                </a:lnTo>
                <a:lnTo>
                  <a:pt x="380752" y="380752"/>
                </a:lnTo>
                <a:lnTo>
                  <a:pt x="0" y="38075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4" name="Freeform 24"/>
          <p:cNvSpPr/>
          <p:nvPr/>
        </p:nvSpPr>
        <p:spPr>
          <a:xfrm>
            <a:off x="13407653" y="4111641"/>
            <a:ext cx="380752" cy="380752"/>
          </a:xfrm>
          <a:custGeom>
            <a:avLst/>
            <a:gdLst/>
            <a:ahLst/>
            <a:cxnLst/>
            <a:rect l="l" t="t" r="r" b="b"/>
            <a:pathLst>
              <a:path w="380752" h="380752">
                <a:moveTo>
                  <a:pt x="0" y="0"/>
                </a:moveTo>
                <a:lnTo>
                  <a:pt x="380752" y="0"/>
                </a:lnTo>
                <a:lnTo>
                  <a:pt x="380752" y="380752"/>
                </a:lnTo>
                <a:lnTo>
                  <a:pt x="0" y="38075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5" name="Freeform 25"/>
          <p:cNvSpPr/>
          <p:nvPr/>
        </p:nvSpPr>
        <p:spPr>
          <a:xfrm rot="3139819">
            <a:off x="17025443" y="-4524777"/>
            <a:ext cx="4711905" cy="7425639"/>
          </a:xfrm>
          <a:custGeom>
            <a:avLst/>
            <a:gdLst/>
            <a:ahLst/>
            <a:cxnLst/>
            <a:rect l="l" t="t" r="r" b="b"/>
            <a:pathLst>
              <a:path w="4711905" h="7425639">
                <a:moveTo>
                  <a:pt x="0" y="0"/>
                </a:moveTo>
                <a:lnTo>
                  <a:pt x="4711905" y="0"/>
                </a:lnTo>
                <a:lnTo>
                  <a:pt x="4711905" y="7425639"/>
                </a:lnTo>
                <a:lnTo>
                  <a:pt x="0" y="7425639"/>
                </a:lnTo>
                <a:lnTo>
                  <a:pt x="0" y="0"/>
                </a:lnTo>
                <a:close/>
              </a:path>
            </a:pathLst>
          </a:custGeom>
          <a:blipFill>
            <a:blip r:embed="rId7">
              <a:alphaModFix amt="36000"/>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6" name="Freeform 26"/>
          <p:cNvSpPr/>
          <p:nvPr/>
        </p:nvSpPr>
        <p:spPr>
          <a:xfrm rot="-2700000">
            <a:off x="-2858946" y="-4473568"/>
            <a:ext cx="4711905" cy="7425639"/>
          </a:xfrm>
          <a:custGeom>
            <a:avLst/>
            <a:gdLst/>
            <a:ahLst/>
            <a:cxnLst/>
            <a:rect l="l" t="t" r="r" b="b"/>
            <a:pathLst>
              <a:path w="4711905" h="7425639">
                <a:moveTo>
                  <a:pt x="0" y="0"/>
                </a:moveTo>
                <a:lnTo>
                  <a:pt x="4711905" y="0"/>
                </a:lnTo>
                <a:lnTo>
                  <a:pt x="4711905" y="7425639"/>
                </a:lnTo>
                <a:lnTo>
                  <a:pt x="0" y="7425639"/>
                </a:lnTo>
                <a:lnTo>
                  <a:pt x="0" y="0"/>
                </a:lnTo>
                <a:close/>
              </a:path>
            </a:pathLst>
          </a:custGeom>
          <a:blipFill>
            <a:blip r:embed="rId7">
              <a:alphaModFix amt="36000"/>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7" name="AutoShape 27"/>
          <p:cNvSpPr/>
          <p:nvPr/>
        </p:nvSpPr>
        <p:spPr>
          <a:xfrm>
            <a:off x="1688495" y="4292492"/>
            <a:ext cx="0" cy="1130311"/>
          </a:xfrm>
          <a:prstGeom prst="line">
            <a:avLst/>
          </a:prstGeom>
          <a:ln w="38100" cap="flat">
            <a:solidFill>
              <a:srgbClr val="000000"/>
            </a:solidFill>
            <a:prstDash val="solid"/>
            <a:headEnd type="none" w="sm" len="sm"/>
            <a:tailEnd type="triangle" w="lg" len="med"/>
          </a:ln>
        </p:spPr>
        <p:txBody>
          <a:bodyPr/>
          <a:lstStyle/>
          <a:p>
            <a:endParaRPr lang="en-US"/>
          </a:p>
        </p:txBody>
      </p:sp>
      <p:sp>
        <p:nvSpPr>
          <p:cNvPr id="28" name="AutoShape 28"/>
          <p:cNvSpPr/>
          <p:nvPr/>
        </p:nvSpPr>
        <p:spPr>
          <a:xfrm>
            <a:off x="5612548" y="4302017"/>
            <a:ext cx="0" cy="1130311"/>
          </a:xfrm>
          <a:prstGeom prst="line">
            <a:avLst/>
          </a:prstGeom>
          <a:ln w="38100" cap="flat">
            <a:solidFill>
              <a:srgbClr val="000000"/>
            </a:solidFill>
            <a:prstDash val="solid"/>
            <a:headEnd type="none" w="sm" len="sm"/>
            <a:tailEnd type="triangle" w="lg" len="med"/>
          </a:ln>
        </p:spPr>
        <p:txBody>
          <a:bodyPr/>
          <a:lstStyle/>
          <a:p>
            <a:endParaRPr lang="en-US"/>
          </a:p>
        </p:txBody>
      </p:sp>
      <p:sp>
        <p:nvSpPr>
          <p:cNvPr id="29" name="AutoShape 29"/>
          <p:cNvSpPr/>
          <p:nvPr/>
        </p:nvSpPr>
        <p:spPr>
          <a:xfrm>
            <a:off x="9677453" y="4292492"/>
            <a:ext cx="0" cy="1130311"/>
          </a:xfrm>
          <a:prstGeom prst="line">
            <a:avLst/>
          </a:prstGeom>
          <a:ln w="38100" cap="flat">
            <a:solidFill>
              <a:srgbClr val="000000"/>
            </a:solidFill>
            <a:prstDash val="solid"/>
            <a:headEnd type="none" w="sm" len="sm"/>
            <a:tailEnd type="triangle" w="lg" len="med"/>
          </a:ln>
        </p:spPr>
        <p:txBody>
          <a:bodyPr/>
          <a:lstStyle/>
          <a:p>
            <a:endParaRPr lang="en-US"/>
          </a:p>
        </p:txBody>
      </p:sp>
      <p:sp>
        <p:nvSpPr>
          <p:cNvPr id="30" name="AutoShape 30"/>
          <p:cNvSpPr/>
          <p:nvPr/>
        </p:nvSpPr>
        <p:spPr>
          <a:xfrm>
            <a:off x="13598029" y="4302017"/>
            <a:ext cx="0" cy="1130311"/>
          </a:xfrm>
          <a:prstGeom prst="line">
            <a:avLst/>
          </a:prstGeom>
          <a:ln w="38100" cap="flat">
            <a:solidFill>
              <a:srgbClr val="000000"/>
            </a:solidFill>
            <a:prstDash val="solid"/>
            <a:headEnd type="none" w="sm" len="sm"/>
            <a:tailEnd type="triangle" w="lg" len="med"/>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5" name="TextBox 5"/>
          <p:cNvSpPr txBox="1"/>
          <p:nvPr/>
        </p:nvSpPr>
        <p:spPr>
          <a:xfrm>
            <a:off x="4717085" y="-19050"/>
            <a:ext cx="9695034" cy="1085839"/>
          </a:xfrm>
          <a:prstGeom prst="rect">
            <a:avLst/>
          </a:prstGeom>
        </p:spPr>
        <p:txBody>
          <a:bodyPr lIns="0" tIns="0" rIns="0" bIns="0" rtlCol="0" anchor="t">
            <a:spAutoFit/>
          </a:bodyPr>
          <a:lstStyle/>
          <a:p>
            <a:pPr algn="l">
              <a:lnSpc>
                <a:spcPts val="8407"/>
              </a:lnSpc>
            </a:pPr>
            <a:r>
              <a:rPr lang="en-US" sz="7006" u="sng">
                <a:solidFill>
                  <a:srgbClr val="000000"/>
                </a:solidFill>
                <a:latin typeface="Archivo Black"/>
                <a:ea typeface="Archivo Black"/>
                <a:cs typeface="Archivo Black"/>
                <a:sym typeface="Archivo Black"/>
              </a:rPr>
              <a:t>“Code Overview”</a:t>
            </a:r>
          </a:p>
        </p:txBody>
      </p:sp>
      <p:sp>
        <p:nvSpPr>
          <p:cNvPr id="6" name="TextBox 6"/>
          <p:cNvSpPr txBox="1"/>
          <p:nvPr/>
        </p:nvSpPr>
        <p:spPr>
          <a:xfrm>
            <a:off x="746760" y="1924186"/>
            <a:ext cx="6347561" cy="479170"/>
          </a:xfrm>
          <a:prstGeom prst="rect">
            <a:avLst/>
          </a:prstGeom>
        </p:spPr>
        <p:txBody>
          <a:bodyPr wrap="square" lIns="0" tIns="0" rIns="0" bIns="0" rtlCol="0" anchor="t">
            <a:spAutoFit/>
          </a:bodyPr>
          <a:lstStyle/>
          <a:p>
            <a:pPr algn="ctr">
              <a:lnSpc>
                <a:spcPts val="3842"/>
              </a:lnSpc>
              <a:spcBef>
                <a:spcPct val="0"/>
              </a:spcBef>
            </a:pPr>
            <a:r>
              <a:rPr lang="en-US" sz="2955" b="1" u="sng" dirty="0">
                <a:solidFill>
                  <a:srgbClr val="000000"/>
                </a:solidFill>
                <a:latin typeface="Garet Bold"/>
                <a:ea typeface="Garet Bold"/>
                <a:cs typeface="Garet Bold"/>
                <a:sym typeface="Garet Bold"/>
              </a:rPr>
              <a:t>→ </a:t>
            </a:r>
            <a:r>
              <a:rPr lang="en-US" sz="2955" b="1" u="sng" dirty="0" err="1">
                <a:solidFill>
                  <a:srgbClr val="000000"/>
                </a:solidFill>
                <a:latin typeface="Garet Bold"/>
                <a:ea typeface="Garet Bold"/>
                <a:cs typeface="Garet Bold"/>
                <a:sym typeface="Garet Bold"/>
              </a:rPr>
              <a:t>Genarate</a:t>
            </a:r>
            <a:r>
              <a:rPr lang="en-US" sz="2955" b="1" u="sng" dirty="0">
                <a:solidFill>
                  <a:srgbClr val="000000"/>
                </a:solidFill>
                <a:latin typeface="Garet Bold"/>
                <a:ea typeface="Garet Bold"/>
                <a:cs typeface="Garet Bold"/>
                <a:sym typeface="Garet Bold"/>
              </a:rPr>
              <a:t> Adjacency Matrix:</a:t>
            </a:r>
          </a:p>
        </p:txBody>
      </p:sp>
      <p:sp>
        <p:nvSpPr>
          <p:cNvPr id="7" name="TextBox 7"/>
          <p:cNvSpPr txBox="1"/>
          <p:nvPr/>
        </p:nvSpPr>
        <p:spPr>
          <a:xfrm>
            <a:off x="10868637" y="2298972"/>
            <a:ext cx="5249667" cy="966675"/>
          </a:xfrm>
          <a:prstGeom prst="rect">
            <a:avLst/>
          </a:prstGeom>
        </p:spPr>
        <p:txBody>
          <a:bodyPr lIns="0" tIns="0" rIns="0" bIns="0" rtlCol="0" anchor="t">
            <a:spAutoFit/>
          </a:bodyPr>
          <a:lstStyle/>
          <a:p>
            <a:pPr algn="ctr">
              <a:lnSpc>
                <a:spcPts val="3848"/>
              </a:lnSpc>
              <a:spcBef>
                <a:spcPct val="0"/>
              </a:spcBef>
            </a:pPr>
            <a:r>
              <a:rPr lang="en-US" sz="2960" b="1" u="sng" dirty="0">
                <a:solidFill>
                  <a:srgbClr val="000000"/>
                </a:solidFill>
                <a:latin typeface="Garet Bold"/>
                <a:ea typeface="Garet Bold"/>
                <a:cs typeface="Garet Bold"/>
                <a:sym typeface="Garet Bold"/>
              </a:rPr>
              <a:t>→Counting the edges and degree:</a:t>
            </a:r>
          </a:p>
        </p:txBody>
      </p:sp>
      <p:grpSp>
        <p:nvGrpSpPr>
          <p:cNvPr id="8" name="Group 8"/>
          <p:cNvGrpSpPr/>
          <p:nvPr/>
        </p:nvGrpSpPr>
        <p:grpSpPr>
          <a:xfrm>
            <a:off x="673695" y="5794782"/>
            <a:ext cx="7353117" cy="3317168"/>
            <a:chOff x="0" y="-28575"/>
            <a:chExt cx="9804156" cy="4422890"/>
          </a:xfrm>
        </p:grpSpPr>
        <p:sp>
          <p:nvSpPr>
            <p:cNvPr id="9" name="TextBox 9"/>
            <p:cNvSpPr txBox="1"/>
            <p:nvPr/>
          </p:nvSpPr>
          <p:spPr>
            <a:xfrm>
              <a:off x="608812" y="-28575"/>
              <a:ext cx="9195344" cy="605293"/>
            </a:xfrm>
            <a:prstGeom prst="rect">
              <a:avLst/>
            </a:prstGeom>
          </p:spPr>
          <p:txBody>
            <a:bodyPr lIns="0" tIns="0" rIns="0" bIns="0" rtlCol="0" anchor="t">
              <a:spAutoFit/>
            </a:bodyPr>
            <a:lstStyle/>
            <a:p>
              <a:pPr algn="ctr">
                <a:lnSpc>
                  <a:spcPts val="3640"/>
                </a:lnSpc>
                <a:spcBef>
                  <a:spcPct val="0"/>
                </a:spcBef>
              </a:pPr>
              <a:endParaRPr lang="en-US" sz="2800" b="1" i="1" dirty="0">
                <a:solidFill>
                  <a:srgbClr val="000000"/>
                </a:solidFill>
                <a:latin typeface="Garet Bold Italics"/>
                <a:ea typeface="Garet Bold Italics"/>
                <a:cs typeface="Garet Bold Italics"/>
                <a:sym typeface="Garet Bold Italics"/>
              </a:endParaRPr>
            </a:p>
          </p:txBody>
        </p:sp>
        <p:sp>
          <p:nvSpPr>
            <p:cNvPr id="10" name="TextBox 10"/>
            <p:cNvSpPr txBox="1"/>
            <p:nvPr/>
          </p:nvSpPr>
          <p:spPr>
            <a:xfrm>
              <a:off x="0" y="1574344"/>
              <a:ext cx="9195344" cy="1836400"/>
            </a:xfrm>
            <a:prstGeom prst="rect">
              <a:avLst/>
            </a:prstGeom>
          </p:spPr>
          <p:txBody>
            <a:bodyPr lIns="0" tIns="0" rIns="0" bIns="0" rtlCol="0" anchor="t">
              <a:spAutoFit/>
            </a:bodyPr>
            <a:lstStyle/>
            <a:p>
              <a:pPr algn="ctr">
                <a:lnSpc>
                  <a:spcPts val="3640"/>
                </a:lnSpc>
                <a:spcBef>
                  <a:spcPct val="0"/>
                </a:spcBef>
              </a:pPr>
              <a:r>
                <a:rPr lang="en-US" sz="2800" dirty="0">
                  <a:solidFill>
                    <a:srgbClr val="000000"/>
                  </a:solidFill>
                  <a:latin typeface="Garet"/>
                  <a:ea typeface="Garet"/>
                  <a:cs typeface="Garet"/>
                  <a:sym typeface="Garet"/>
                </a:rPr>
                <a:t>→The matrix is of size </a:t>
              </a:r>
              <a:r>
                <a:rPr lang="en-US" sz="2800" b="1" i="1" dirty="0">
                  <a:solidFill>
                    <a:srgbClr val="000000"/>
                  </a:solidFill>
                  <a:latin typeface="Garet Bold Italics"/>
                  <a:ea typeface="Garet Bold Italics"/>
                  <a:cs typeface="Garet Bold Italics"/>
                  <a:sym typeface="Garet Bold Italics"/>
                </a:rPr>
                <a:t>(n )</a:t>
              </a:r>
              <a:r>
                <a:rPr lang="en-US" sz="2800" dirty="0">
                  <a:solidFill>
                    <a:srgbClr val="000000"/>
                  </a:solidFill>
                  <a:latin typeface="Garet"/>
                  <a:ea typeface="Garet"/>
                  <a:cs typeface="Garet"/>
                  <a:sym typeface="Garet"/>
                </a:rPr>
                <a:t>, represented as a 2D array for efficiency.</a:t>
              </a:r>
            </a:p>
          </p:txBody>
        </p:sp>
        <p:sp>
          <p:nvSpPr>
            <p:cNvPr id="11" name="TextBox 11"/>
            <p:cNvSpPr txBox="1"/>
            <p:nvPr/>
          </p:nvSpPr>
          <p:spPr>
            <a:xfrm>
              <a:off x="0" y="3789022"/>
              <a:ext cx="9390909" cy="605293"/>
            </a:xfrm>
            <a:prstGeom prst="rect">
              <a:avLst/>
            </a:prstGeom>
          </p:spPr>
          <p:txBody>
            <a:bodyPr lIns="0" tIns="0" rIns="0" bIns="0" rtlCol="0" anchor="t">
              <a:spAutoFit/>
            </a:bodyPr>
            <a:lstStyle/>
            <a:p>
              <a:pPr algn="ctr">
                <a:lnSpc>
                  <a:spcPts val="3640"/>
                </a:lnSpc>
                <a:spcBef>
                  <a:spcPct val="0"/>
                </a:spcBef>
              </a:pPr>
              <a:r>
                <a:rPr lang="en-US" sz="2800" dirty="0">
                  <a:solidFill>
                    <a:srgbClr val="000000"/>
                  </a:solidFill>
                  <a:latin typeface="Garet"/>
                  <a:ea typeface="Garet"/>
                  <a:cs typeface="Garet"/>
                  <a:sym typeface="Garet"/>
                </a:rPr>
                <a:t>  </a:t>
              </a:r>
            </a:p>
          </p:txBody>
        </p:sp>
      </p:grpSp>
      <p:sp>
        <p:nvSpPr>
          <p:cNvPr id="12" name="TextBox 12"/>
          <p:cNvSpPr txBox="1"/>
          <p:nvPr/>
        </p:nvSpPr>
        <p:spPr>
          <a:xfrm>
            <a:off x="10045217" y="6977022"/>
            <a:ext cx="6896508" cy="915635"/>
          </a:xfrm>
          <a:prstGeom prst="rect">
            <a:avLst/>
          </a:prstGeom>
        </p:spPr>
        <p:txBody>
          <a:bodyPr lIns="0" tIns="0" rIns="0" bIns="0" rtlCol="0" anchor="t">
            <a:spAutoFit/>
          </a:bodyPr>
          <a:lstStyle/>
          <a:p>
            <a:pPr algn="ctr">
              <a:lnSpc>
                <a:spcPts val="3640"/>
              </a:lnSpc>
            </a:pPr>
            <a:endParaRPr lang="en-US" sz="2800" dirty="0">
              <a:solidFill>
                <a:srgbClr val="000000"/>
              </a:solidFill>
              <a:latin typeface="Garet"/>
              <a:ea typeface="Garet"/>
              <a:cs typeface="Garet"/>
              <a:sym typeface="Garet"/>
            </a:endParaRPr>
          </a:p>
          <a:p>
            <a:pPr algn="ctr">
              <a:lnSpc>
                <a:spcPts val="3640"/>
              </a:lnSpc>
              <a:spcBef>
                <a:spcPct val="0"/>
              </a:spcBef>
            </a:pPr>
            <a:endParaRPr lang="en-US" sz="2800" dirty="0">
              <a:solidFill>
                <a:srgbClr val="000000"/>
              </a:solidFill>
              <a:latin typeface="Garet"/>
              <a:ea typeface="Garet"/>
              <a:cs typeface="Garet"/>
              <a:sym typeface="Garet"/>
            </a:endParaRPr>
          </a:p>
        </p:txBody>
      </p:sp>
      <p:sp>
        <p:nvSpPr>
          <p:cNvPr id="13" name="AutoShape 13"/>
          <p:cNvSpPr/>
          <p:nvPr/>
        </p:nvSpPr>
        <p:spPr>
          <a:xfrm>
            <a:off x="8901197" y="2794548"/>
            <a:ext cx="0" cy="7524115"/>
          </a:xfrm>
          <a:prstGeom prst="line">
            <a:avLst/>
          </a:prstGeom>
          <a:ln w="38100" cap="flat">
            <a:solidFill>
              <a:srgbClr val="000000"/>
            </a:solidFill>
            <a:prstDash val="solid"/>
            <a:headEnd type="none" w="sm" len="sm"/>
            <a:tailEnd type="none" w="sm" len="sm"/>
          </a:ln>
        </p:spPr>
        <p:txBody>
          <a:bodyPr/>
          <a:lstStyle/>
          <a:p>
            <a:endParaRPr lang="en-US"/>
          </a:p>
        </p:txBody>
      </p:sp>
      <p:pic>
        <p:nvPicPr>
          <p:cNvPr id="19" name="Picture 18" descr="A screen shot of a computer&#10;&#10;AI-generated content may be incorrect.">
            <a:extLst>
              <a:ext uri="{FF2B5EF4-FFF2-40B4-BE49-F238E27FC236}">
                <a16:creationId xmlns:a16="http://schemas.microsoft.com/office/drawing/2014/main" id="{9B60E63D-8149-7EBC-B8D8-534F58F929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2552700"/>
            <a:ext cx="7467599" cy="3015761"/>
          </a:xfrm>
          <a:prstGeom prst="rect">
            <a:avLst/>
          </a:prstGeom>
        </p:spPr>
      </p:pic>
      <p:pic>
        <p:nvPicPr>
          <p:cNvPr id="21" name="Picture 20" descr="A computer screen shot of a code&#10;&#10;AI-generated content may be incorrect.">
            <a:extLst>
              <a:ext uri="{FF2B5EF4-FFF2-40B4-BE49-F238E27FC236}">
                <a16:creationId xmlns:a16="http://schemas.microsoft.com/office/drawing/2014/main" id="{844384B9-D9D5-71A0-B554-BD087EA18F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14737" y="3365761"/>
            <a:ext cx="7459778" cy="333397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4" name="TextBox 4"/>
          <p:cNvSpPr txBox="1"/>
          <p:nvPr/>
        </p:nvSpPr>
        <p:spPr>
          <a:xfrm>
            <a:off x="4876055" y="130580"/>
            <a:ext cx="9695034" cy="1085839"/>
          </a:xfrm>
          <a:prstGeom prst="rect">
            <a:avLst/>
          </a:prstGeom>
        </p:spPr>
        <p:txBody>
          <a:bodyPr lIns="0" tIns="0" rIns="0" bIns="0" rtlCol="0" anchor="t">
            <a:spAutoFit/>
          </a:bodyPr>
          <a:lstStyle/>
          <a:p>
            <a:pPr algn="l">
              <a:lnSpc>
                <a:spcPts val="8407"/>
              </a:lnSpc>
            </a:pPr>
            <a:r>
              <a:rPr lang="en-US" sz="7006" u="sng">
                <a:solidFill>
                  <a:srgbClr val="000000"/>
                </a:solidFill>
                <a:latin typeface="Archivo Black"/>
                <a:ea typeface="Archivo Black"/>
                <a:cs typeface="Archivo Black"/>
                <a:sym typeface="Archivo Black"/>
              </a:rPr>
              <a:t>“Code Overview”</a:t>
            </a:r>
          </a:p>
        </p:txBody>
      </p:sp>
      <p:sp>
        <p:nvSpPr>
          <p:cNvPr id="5" name="TextBox 5"/>
          <p:cNvSpPr txBox="1"/>
          <p:nvPr/>
        </p:nvSpPr>
        <p:spPr>
          <a:xfrm>
            <a:off x="6764629" y="2434993"/>
            <a:ext cx="5917886" cy="1068360"/>
          </a:xfrm>
          <a:prstGeom prst="rect">
            <a:avLst/>
          </a:prstGeom>
        </p:spPr>
        <p:txBody>
          <a:bodyPr lIns="0" tIns="0" rIns="0" bIns="0" rtlCol="0" anchor="t">
            <a:spAutoFit/>
          </a:bodyPr>
          <a:lstStyle/>
          <a:p>
            <a:pPr algn="ctr">
              <a:lnSpc>
                <a:spcPts val="4238"/>
              </a:lnSpc>
              <a:spcBef>
                <a:spcPct val="0"/>
              </a:spcBef>
            </a:pPr>
            <a:r>
              <a:rPr lang="en-US" sz="3260" b="1" u="sng">
                <a:solidFill>
                  <a:srgbClr val="000000"/>
                </a:solidFill>
                <a:latin typeface="Garet Bold"/>
                <a:ea typeface="Garet Bold"/>
                <a:cs typeface="Garet Bold"/>
                <a:sym typeface="Garet Bold"/>
              </a:rPr>
              <a:t>→Measuring Execution Time</a:t>
            </a:r>
          </a:p>
        </p:txBody>
      </p:sp>
      <p:sp>
        <p:nvSpPr>
          <p:cNvPr id="6" name="TextBox 6"/>
          <p:cNvSpPr txBox="1"/>
          <p:nvPr/>
        </p:nvSpPr>
        <p:spPr>
          <a:xfrm>
            <a:off x="6031047" y="6188007"/>
            <a:ext cx="7385049" cy="3193101"/>
          </a:xfrm>
          <a:prstGeom prst="rect">
            <a:avLst/>
          </a:prstGeom>
        </p:spPr>
        <p:txBody>
          <a:bodyPr lIns="0" tIns="0" rIns="0" bIns="0" rtlCol="0" anchor="t">
            <a:spAutoFit/>
          </a:bodyPr>
          <a:lstStyle/>
          <a:p>
            <a:pPr algn="l">
              <a:lnSpc>
                <a:spcPts val="3639"/>
              </a:lnSpc>
              <a:spcBef>
                <a:spcPct val="0"/>
              </a:spcBef>
            </a:pPr>
            <a:r>
              <a:rPr lang="en-US" sz="2799" b="1">
                <a:solidFill>
                  <a:srgbClr val="000000"/>
                </a:solidFill>
                <a:latin typeface="Garet Bold"/>
                <a:ea typeface="Garet Bold"/>
                <a:cs typeface="Garet Bold"/>
                <a:sym typeface="Garet Bold"/>
              </a:rPr>
              <a:t>                     </a:t>
            </a:r>
            <a:r>
              <a:rPr lang="en-US" sz="2799" b="1" u="sng">
                <a:solidFill>
                  <a:srgbClr val="000000"/>
                </a:solidFill>
                <a:latin typeface="Garet Bold"/>
                <a:ea typeface="Garet Bold"/>
                <a:cs typeface="Garet Bold"/>
                <a:sym typeface="Garet Bold"/>
              </a:rPr>
              <a:t>→Time Measurement:</a:t>
            </a:r>
          </a:p>
          <a:p>
            <a:pPr algn="l">
              <a:lnSpc>
                <a:spcPts val="3639"/>
              </a:lnSpc>
              <a:spcBef>
                <a:spcPct val="0"/>
              </a:spcBef>
            </a:pPr>
            <a:endParaRPr lang="en-US" sz="2799" b="1" u="sng">
              <a:solidFill>
                <a:srgbClr val="000000"/>
              </a:solidFill>
              <a:latin typeface="Garet Bold"/>
              <a:ea typeface="Garet Bold"/>
              <a:cs typeface="Garet Bold"/>
              <a:sym typeface="Garet Bold"/>
            </a:endParaRPr>
          </a:p>
          <a:p>
            <a:pPr algn="ctr">
              <a:lnSpc>
                <a:spcPts val="3639"/>
              </a:lnSpc>
              <a:spcBef>
                <a:spcPct val="0"/>
              </a:spcBef>
            </a:pPr>
            <a:r>
              <a:rPr lang="en-US" sz="2799" b="1">
                <a:solidFill>
                  <a:srgbClr val="000000"/>
                </a:solidFill>
                <a:latin typeface="Garet Bold"/>
                <a:ea typeface="Garet Bold"/>
                <a:cs typeface="Garet Bold"/>
                <a:sym typeface="Garet Bold"/>
              </a:rPr>
              <a:t>        </a:t>
            </a:r>
            <a:r>
              <a:rPr lang="en-US" sz="2799">
                <a:solidFill>
                  <a:srgbClr val="000000"/>
                </a:solidFill>
                <a:latin typeface="Garet"/>
                <a:ea typeface="Garet"/>
                <a:cs typeface="Garet"/>
                <a:sym typeface="Garet"/>
              </a:rPr>
              <a:t>→Use </a:t>
            </a:r>
            <a:r>
              <a:rPr lang="en-US" sz="2799" b="1" i="1">
                <a:solidFill>
                  <a:srgbClr val="000000"/>
                </a:solidFill>
                <a:latin typeface="Garet Bold Italics"/>
                <a:ea typeface="Garet Bold Italics"/>
                <a:cs typeface="Garet Bold Italics"/>
                <a:sym typeface="Garet Bold Italics"/>
              </a:rPr>
              <a:t>clock()</a:t>
            </a:r>
            <a:r>
              <a:rPr lang="en-US" sz="2799">
                <a:solidFill>
                  <a:srgbClr val="000000"/>
                </a:solidFill>
                <a:latin typeface="Garet"/>
                <a:ea typeface="Garet"/>
                <a:cs typeface="Garet"/>
                <a:sym typeface="Garet"/>
              </a:rPr>
              <a:t> to measure the time  before and after graph generation and degree calculation.</a:t>
            </a:r>
          </a:p>
          <a:p>
            <a:pPr algn="ctr">
              <a:lnSpc>
                <a:spcPts val="3639"/>
              </a:lnSpc>
              <a:spcBef>
                <a:spcPct val="0"/>
              </a:spcBef>
            </a:pPr>
            <a:endParaRPr lang="en-US" sz="2799">
              <a:solidFill>
                <a:srgbClr val="000000"/>
              </a:solidFill>
              <a:latin typeface="Garet"/>
              <a:ea typeface="Garet"/>
              <a:cs typeface="Garet"/>
              <a:sym typeface="Garet"/>
            </a:endParaRPr>
          </a:p>
          <a:p>
            <a:pPr algn="ctr">
              <a:lnSpc>
                <a:spcPts val="3639"/>
              </a:lnSpc>
              <a:spcBef>
                <a:spcPct val="0"/>
              </a:spcBef>
            </a:pPr>
            <a:r>
              <a:rPr lang="en-US" sz="2799">
                <a:solidFill>
                  <a:srgbClr val="000000"/>
                </a:solidFill>
                <a:latin typeface="Garet"/>
                <a:ea typeface="Garet"/>
                <a:cs typeface="Garet"/>
                <a:sym typeface="Garet"/>
              </a:rPr>
              <a:t>      →Display the time in milliseconds.</a:t>
            </a:r>
          </a:p>
        </p:txBody>
      </p:sp>
      <p:sp>
        <p:nvSpPr>
          <p:cNvPr id="7" name="Freeform 7"/>
          <p:cNvSpPr/>
          <p:nvPr/>
        </p:nvSpPr>
        <p:spPr>
          <a:xfrm rot="-2700000">
            <a:off x="-2535560" y="-4099493"/>
            <a:ext cx="4711905" cy="7425639"/>
          </a:xfrm>
          <a:custGeom>
            <a:avLst/>
            <a:gdLst/>
            <a:ahLst/>
            <a:cxnLst/>
            <a:rect l="l" t="t" r="r" b="b"/>
            <a:pathLst>
              <a:path w="4711905" h="7425639">
                <a:moveTo>
                  <a:pt x="0" y="0"/>
                </a:moveTo>
                <a:lnTo>
                  <a:pt x="4711905" y="0"/>
                </a:lnTo>
                <a:lnTo>
                  <a:pt x="4711905" y="7425639"/>
                </a:lnTo>
                <a:lnTo>
                  <a:pt x="0" y="7425639"/>
                </a:lnTo>
                <a:lnTo>
                  <a:pt x="0" y="0"/>
                </a:lnTo>
                <a:close/>
              </a:path>
            </a:pathLst>
          </a:custGeom>
          <a:blipFill>
            <a:blip r:embed="rId3">
              <a:alphaModFix amt="36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rot="7940814">
            <a:off x="15932047" y="6861587"/>
            <a:ext cx="4711905" cy="7425639"/>
          </a:xfrm>
          <a:custGeom>
            <a:avLst/>
            <a:gdLst/>
            <a:ahLst/>
            <a:cxnLst/>
            <a:rect l="l" t="t" r="r" b="b"/>
            <a:pathLst>
              <a:path w="4711905" h="7425639">
                <a:moveTo>
                  <a:pt x="0" y="0"/>
                </a:moveTo>
                <a:lnTo>
                  <a:pt x="4711906" y="0"/>
                </a:lnTo>
                <a:lnTo>
                  <a:pt x="4711906" y="7425639"/>
                </a:lnTo>
                <a:lnTo>
                  <a:pt x="0" y="7425639"/>
                </a:lnTo>
                <a:lnTo>
                  <a:pt x="0" y="0"/>
                </a:lnTo>
                <a:close/>
              </a:path>
            </a:pathLst>
          </a:custGeom>
          <a:blipFill>
            <a:blip r:embed="rId3">
              <a:alphaModFix amt="36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9" name="Group 9"/>
          <p:cNvGrpSpPr/>
          <p:nvPr/>
        </p:nvGrpSpPr>
        <p:grpSpPr>
          <a:xfrm>
            <a:off x="13069816" y="2473093"/>
            <a:ext cx="2265666" cy="2263265"/>
            <a:chOff x="0" y="0"/>
            <a:chExt cx="3020888" cy="3017687"/>
          </a:xfrm>
        </p:grpSpPr>
        <p:sp>
          <p:nvSpPr>
            <p:cNvPr id="10" name="Freeform 10"/>
            <p:cNvSpPr/>
            <p:nvPr/>
          </p:nvSpPr>
          <p:spPr>
            <a:xfrm rot="-5400000">
              <a:off x="-748935" y="748935"/>
              <a:ext cx="3017687" cy="1519817"/>
            </a:xfrm>
            <a:custGeom>
              <a:avLst/>
              <a:gdLst/>
              <a:ahLst/>
              <a:cxnLst/>
              <a:rect l="l" t="t" r="r" b="b"/>
              <a:pathLst>
                <a:path w="3017687" h="1519817">
                  <a:moveTo>
                    <a:pt x="0" y="0"/>
                  </a:moveTo>
                  <a:lnTo>
                    <a:pt x="3017687" y="0"/>
                  </a:lnTo>
                  <a:lnTo>
                    <a:pt x="3017687" y="1519817"/>
                  </a:lnTo>
                  <a:lnTo>
                    <a:pt x="0" y="1519817"/>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1" name="Freeform 11"/>
            <p:cNvSpPr/>
            <p:nvPr/>
          </p:nvSpPr>
          <p:spPr>
            <a:xfrm rot="5478197">
              <a:off x="757973" y="771700"/>
              <a:ext cx="2965326" cy="1493446"/>
            </a:xfrm>
            <a:custGeom>
              <a:avLst/>
              <a:gdLst/>
              <a:ahLst/>
              <a:cxnLst/>
              <a:rect l="l" t="t" r="r" b="b"/>
              <a:pathLst>
                <a:path w="2965326" h="1493446">
                  <a:moveTo>
                    <a:pt x="0" y="0"/>
                  </a:moveTo>
                  <a:lnTo>
                    <a:pt x="2965326" y="0"/>
                  </a:lnTo>
                  <a:lnTo>
                    <a:pt x="2965326" y="1493446"/>
                  </a:lnTo>
                  <a:lnTo>
                    <a:pt x="0" y="1493446"/>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grpSp>
      <p:grpSp>
        <p:nvGrpSpPr>
          <p:cNvPr id="12" name="Group 12"/>
          <p:cNvGrpSpPr/>
          <p:nvPr/>
        </p:nvGrpSpPr>
        <p:grpSpPr>
          <a:xfrm>
            <a:off x="5207378" y="4347715"/>
            <a:ext cx="2265666" cy="2263265"/>
            <a:chOff x="0" y="0"/>
            <a:chExt cx="3020888" cy="3017687"/>
          </a:xfrm>
        </p:grpSpPr>
        <p:sp>
          <p:nvSpPr>
            <p:cNvPr id="13" name="Freeform 13"/>
            <p:cNvSpPr/>
            <p:nvPr/>
          </p:nvSpPr>
          <p:spPr>
            <a:xfrm rot="-5400000">
              <a:off x="-748935" y="748935"/>
              <a:ext cx="3017687" cy="1519817"/>
            </a:xfrm>
            <a:custGeom>
              <a:avLst/>
              <a:gdLst/>
              <a:ahLst/>
              <a:cxnLst/>
              <a:rect l="l" t="t" r="r" b="b"/>
              <a:pathLst>
                <a:path w="3017687" h="1519817">
                  <a:moveTo>
                    <a:pt x="0" y="0"/>
                  </a:moveTo>
                  <a:lnTo>
                    <a:pt x="3017687" y="0"/>
                  </a:lnTo>
                  <a:lnTo>
                    <a:pt x="3017687" y="1519817"/>
                  </a:lnTo>
                  <a:lnTo>
                    <a:pt x="0" y="1519817"/>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4" name="Freeform 14"/>
            <p:cNvSpPr/>
            <p:nvPr/>
          </p:nvSpPr>
          <p:spPr>
            <a:xfrm rot="5478197">
              <a:off x="757973" y="771700"/>
              <a:ext cx="2965326" cy="1493446"/>
            </a:xfrm>
            <a:custGeom>
              <a:avLst/>
              <a:gdLst/>
              <a:ahLst/>
              <a:cxnLst/>
              <a:rect l="l" t="t" r="r" b="b"/>
              <a:pathLst>
                <a:path w="2965326" h="1493446">
                  <a:moveTo>
                    <a:pt x="0" y="0"/>
                  </a:moveTo>
                  <a:lnTo>
                    <a:pt x="2965326" y="0"/>
                  </a:lnTo>
                  <a:lnTo>
                    <a:pt x="2965326" y="1493446"/>
                  </a:lnTo>
                  <a:lnTo>
                    <a:pt x="0" y="1493446"/>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grpSp>
      <p:grpSp>
        <p:nvGrpSpPr>
          <p:cNvPr id="15" name="Group 15"/>
          <p:cNvGrpSpPr/>
          <p:nvPr/>
        </p:nvGrpSpPr>
        <p:grpSpPr>
          <a:xfrm>
            <a:off x="3470698" y="8126668"/>
            <a:ext cx="2265666" cy="2263265"/>
            <a:chOff x="0" y="0"/>
            <a:chExt cx="3020888" cy="3017687"/>
          </a:xfrm>
        </p:grpSpPr>
        <p:sp>
          <p:nvSpPr>
            <p:cNvPr id="16" name="Freeform 16"/>
            <p:cNvSpPr/>
            <p:nvPr/>
          </p:nvSpPr>
          <p:spPr>
            <a:xfrm rot="-5400000">
              <a:off x="-748935" y="748935"/>
              <a:ext cx="3017687" cy="1519817"/>
            </a:xfrm>
            <a:custGeom>
              <a:avLst/>
              <a:gdLst/>
              <a:ahLst/>
              <a:cxnLst/>
              <a:rect l="l" t="t" r="r" b="b"/>
              <a:pathLst>
                <a:path w="3017687" h="1519817">
                  <a:moveTo>
                    <a:pt x="0" y="0"/>
                  </a:moveTo>
                  <a:lnTo>
                    <a:pt x="3017687" y="0"/>
                  </a:lnTo>
                  <a:lnTo>
                    <a:pt x="3017687" y="1519817"/>
                  </a:lnTo>
                  <a:lnTo>
                    <a:pt x="0" y="1519817"/>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7" name="Freeform 17"/>
            <p:cNvSpPr/>
            <p:nvPr/>
          </p:nvSpPr>
          <p:spPr>
            <a:xfrm rot="5478197">
              <a:off x="757973" y="771700"/>
              <a:ext cx="2965326" cy="1493446"/>
            </a:xfrm>
            <a:custGeom>
              <a:avLst/>
              <a:gdLst/>
              <a:ahLst/>
              <a:cxnLst/>
              <a:rect l="l" t="t" r="r" b="b"/>
              <a:pathLst>
                <a:path w="2965326" h="1493446">
                  <a:moveTo>
                    <a:pt x="0" y="0"/>
                  </a:moveTo>
                  <a:lnTo>
                    <a:pt x="2965326" y="0"/>
                  </a:lnTo>
                  <a:lnTo>
                    <a:pt x="2965326" y="1493446"/>
                  </a:lnTo>
                  <a:lnTo>
                    <a:pt x="0" y="1493446"/>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grpSp>
      <p:grpSp>
        <p:nvGrpSpPr>
          <p:cNvPr id="18" name="Group 18"/>
          <p:cNvGrpSpPr/>
          <p:nvPr/>
        </p:nvGrpSpPr>
        <p:grpSpPr>
          <a:xfrm>
            <a:off x="406051" y="4919689"/>
            <a:ext cx="2265666" cy="2263265"/>
            <a:chOff x="0" y="0"/>
            <a:chExt cx="3020888" cy="3017687"/>
          </a:xfrm>
        </p:grpSpPr>
        <p:sp>
          <p:nvSpPr>
            <p:cNvPr id="19" name="Freeform 19"/>
            <p:cNvSpPr/>
            <p:nvPr/>
          </p:nvSpPr>
          <p:spPr>
            <a:xfrm rot="-5400000">
              <a:off x="-748935" y="748935"/>
              <a:ext cx="3017687" cy="1519817"/>
            </a:xfrm>
            <a:custGeom>
              <a:avLst/>
              <a:gdLst/>
              <a:ahLst/>
              <a:cxnLst/>
              <a:rect l="l" t="t" r="r" b="b"/>
              <a:pathLst>
                <a:path w="3017687" h="1519817">
                  <a:moveTo>
                    <a:pt x="0" y="0"/>
                  </a:moveTo>
                  <a:lnTo>
                    <a:pt x="3017687" y="0"/>
                  </a:lnTo>
                  <a:lnTo>
                    <a:pt x="3017687" y="1519817"/>
                  </a:lnTo>
                  <a:lnTo>
                    <a:pt x="0" y="1519817"/>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0" name="Freeform 20"/>
            <p:cNvSpPr/>
            <p:nvPr/>
          </p:nvSpPr>
          <p:spPr>
            <a:xfrm rot="5478197">
              <a:off x="757973" y="771700"/>
              <a:ext cx="2965326" cy="1493446"/>
            </a:xfrm>
            <a:custGeom>
              <a:avLst/>
              <a:gdLst/>
              <a:ahLst/>
              <a:cxnLst/>
              <a:rect l="l" t="t" r="r" b="b"/>
              <a:pathLst>
                <a:path w="2965326" h="1493446">
                  <a:moveTo>
                    <a:pt x="0" y="0"/>
                  </a:moveTo>
                  <a:lnTo>
                    <a:pt x="2965326" y="0"/>
                  </a:lnTo>
                  <a:lnTo>
                    <a:pt x="2965326" y="1493446"/>
                  </a:lnTo>
                  <a:lnTo>
                    <a:pt x="0" y="1493446"/>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grpSp>
      <p:pic>
        <p:nvPicPr>
          <p:cNvPr id="22" name="Picture 21">
            <a:extLst>
              <a:ext uri="{FF2B5EF4-FFF2-40B4-BE49-F238E27FC236}">
                <a16:creationId xmlns:a16="http://schemas.microsoft.com/office/drawing/2014/main" id="{BDBC646C-44F9-E890-BD0A-6A878E1CB31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05345" y="3814530"/>
            <a:ext cx="6972300" cy="828675"/>
          </a:xfrm>
          <a:prstGeom prst="rect">
            <a:avLst/>
          </a:prstGeom>
        </p:spPr>
      </p:pic>
      <p:pic>
        <p:nvPicPr>
          <p:cNvPr id="24" name="Picture 23">
            <a:extLst>
              <a:ext uri="{FF2B5EF4-FFF2-40B4-BE49-F238E27FC236}">
                <a16:creationId xmlns:a16="http://schemas.microsoft.com/office/drawing/2014/main" id="{17F7EFAD-038A-EF6E-FD48-416AF6F2E8A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16610" y="4933545"/>
            <a:ext cx="9648825" cy="1057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TextBox 3"/>
          <p:cNvSpPr txBox="1"/>
          <p:nvPr/>
        </p:nvSpPr>
        <p:spPr>
          <a:xfrm>
            <a:off x="4774235" y="-9525"/>
            <a:ext cx="9159493" cy="1017386"/>
          </a:xfrm>
          <a:prstGeom prst="rect">
            <a:avLst/>
          </a:prstGeom>
        </p:spPr>
        <p:txBody>
          <a:bodyPr lIns="0" tIns="0" rIns="0" bIns="0" rtlCol="0" anchor="t">
            <a:spAutoFit/>
          </a:bodyPr>
          <a:lstStyle/>
          <a:p>
            <a:pPr algn="l">
              <a:lnSpc>
                <a:spcPts val="7942"/>
              </a:lnSpc>
            </a:pPr>
            <a:r>
              <a:rPr lang="en-US" sz="6619" u="sng">
                <a:solidFill>
                  <a:srgbClr val="000000"/>
                </a:solidFill>
                <a:latin typeface="Archivo Black"/>
                <a:ea typeface="Archivo Black"/>
                <a:cs typeface="Archivo Black"/>
                <a:sym typeface="Archivo Black"/>
              </a:rPr>
              <a:t>“Graph Analysis”</a:t>
            </a:r>
          </a:p>
        </p:txBody>
      </p:sp>
      <p:sp>
        <p:nvSpPr>
          <p:cNvPr id="4" name="TextBox 4"/>
          <p:cNvSpPr txBox="1"/>
          <p:nvPr/>
        </p:nvSpPr>
        <p:spPr>
          <a:xfrm>
            <a:off x="758398" y="2190106"/>
            <a:ext cx="7369861" cy="2176610"/>
          </a:xfrm>
          <a:prstGeom prst="rect">
            <a:avLst/>
          </a:prstGeom>
        </p:spPr>
        <p:txBody>
          <a:bodyPr lIns="0" tIns="0" rIns="0" bIns="0" rtlCol="0" anchor="t">
            <a:spAutoFit/>
          </a:bodyPr>
          <a:lstStyle/>
          <a:p>
            <a:pPr algn="ctr">
              <a:lnSpc>
                <a:spcPts val="3538"/>
              </a:lnSpc>
            </a:pPr>
            <a:r>
              <a:rPr lang="en-US" sz="2282" b="1">
                <a:solidFill>
                  <a:srgbClr val="000000"/>
                </a:solidFill>
                <a:latin typeface="Garet Bold"/>
                <a:ea typeface="Garet Bold"/>
                <a:cs typeface="Garet Bold"/>
                <a:sym typeface="Garet Bold"/>
              </a:rPr>
              <a:t>We need to put the different values for (n) in the input of the code to get different computational time. The following table shows the computational times value for different value of (n)</a:t>
            </a:r>
          </a:p>
        </p:txBody>
      </p:sp>
      <p:sp>
        <p:nvSpPr>
          <p:cNvPr id="5" name="AutoShape 5"/>
          <p:cNvSpPr/>
          <p:nvPr/>
        </p:nvSpPr>
        <p:spPr>
          <a:xfrm>
            <a:off x="8901197" y="1606877"/>
            <a:ext cx="0" cy="8711787"/>
          </a:xfrm>
          <a:prstGeom prst="line">
            <a:avLst/>
          </a:prstGeom>
          <a:ln w="38100" cap="flat">
            <a:solidFill>
              <a:srgbClr val="000000"/>
            </a:solidFill>
            <a:prstDash val="solid"/>
            <a:headEnd type="none" w="sm" len="sm"/>
            <a:tailEnd type="none" w="sm" len="sm"/>
          </a:ln>
        </p:spPr>
        <p:txBody>
          <a:bodyPr/>
          <a:lstStyle/>
          <a:p>
            <a:endParaRPr lang="en-US"/>
          </a:p>
        </p:txBody>
      </p:sp>
      <p:graphicFrame>
        <p:nvGraphicFramePr>
          <p:cNvPr id="6" name="Table 6"/>
          <p:cNvGraphicFramePr>
            <a:graphicFrameLocks noGrp="1"/>
          </p:cNvGraphicFramePr>
          <p:nvPr>
            <p:extLst>
              <p:ext uri="{D42A27DB-BD31-4B8C-83A1-F6EECF244321}">
                <p14:modId xmlns:p14="http://schemas.microsoft.com/office/powerpoint/2010/main" val="3234627969"/>
              </p:ext>
            </p:extLst>
          </p:nvPr>
        </p:nvGraphicFramePr>
        <p:xfrm>
          <a:off x="381005" y="5513955"/>
          <a:ext cx="8361689" cy="3134745"/>
        </p:xfrm>
        <a:graphic>
          <a:graphicData uri="http://schemas.openxmlformats.org/drawingml/2006/table">
            <a:tbl>
              <a:tblPr/>
              <a:tblGrid>
                <a:gridCol w="4256390">
                  <a:extLst>
                    <a:ext uri="{9D8B030D-6E8A-4147-A177-3AD203B41FA5}">
                      <a16:colId xmlns:a16="http://schemas.microsoft.com/office/drawing/2014/main" val="20000"/>
                    </a:ext>
                  </a:extLst>
                </a:gridCol>
                <a:gridCol w="4105299">
                  <a:extLst>
                    <a:ext uri="{9D8B030D-6E8A-4147-A177-3AD203B41FA5}">
                      <a16:colId xmlns:a16="http://schemas.microsoft.com/office/drawing/2014/main" val="20001"/>
                    </a:ext>
                  </a:extLst>
                </a:gridCol>
              </a:tblGrid>
              <a:tr h="626949">
                <a:tc>
                  <a:txBody>
                    <a:bodyPr/>
                    <a:lstStyle/>
                    <a:p>
                      <a:pPr algn="ctr">
                        <a:lnSpc>
                          <a:spcPts val="2940"/>
                        </a:lnSpc>
                        <a:defRPr/>
                      </a:pPr>
                      <a:r>
                        <a:rPr lang="en-US" sz="2100" b="1" i="1" dirty="0">
                          <a:solidFill>
                            <a:srgbClr val="000000"/>
                          </a:solidFill>
                          <a:latin typeface="Garet Bold Italics"/>
                          <a:ea typeface="Garet Bold Italics"/>
                          <a:cs typeface="Garet Bold Italics"/>
                          <a:sym typeface="Garet Bold Italics"/>
                        </a:rPr>
                        <a:t>Number of Nodes</a:t>
                      </a:r>
                      <a:endParaRPr lang="en-US" sz="1100" dirty="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b="1" i="1">
                          <a:solidFill>
                            <a:srgbClr val="000000"/>
                          </a:solidFill>
                          <a:latin typeface="Garet Bold Italics"/>
                          <a:ea typeface="Garet Bold Italics"/>
                          <a:cs typeface="Garet Bold Italics"/>
                          <a:sym typeface="Garet Bold Italics"/>
                        </a:rPr>
                        <a:t>Computation Time</a:t>
                      </a:r>
                      <a:endParaRPr lang="en-US" sz="110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26949">
                <a:tc>
                  <a:txBody>
                    <a:bodyPr/>
                    <a:lstStyle/>
                    <a:p>
                      <a:pPr algn="ctr">
                        <a:lnSpc>
                          <a:spcPts val="2940"/>
                        </a:lnSpc>
                        <a:defRPr/>
                      </a:pPr>
                      <a:r>
                        <a:rPr lang="en-US" sz="2100" dirty="0">
                          <a:solidFill>
                            <a:srgbClr val="000000"/>
                          </a:solidFill>
                          <a:latin typeface="Garet"/>
                          <a:sym typeface="Garet"/>
                        </a:rPr>
                        <a:t>1000</a:t>
                      </a:r>
                      <a:endParaRPr lang="en-US" sz="1100" dirty="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dirty="0">
                          <a:solidFill>
                            <a:srgbClr val="000000"/>
                          </a:solidFill>
                          <a:latin typeface="Garet"/>
                          <a:ea typeface="Garet"/>
                          <a:cs typeface="Garet"/>
                          <a:sym typeface="Garet"/>
                        </a:rPr>
                        <a:t>4 </a:t>
                      </a:r>
                      <a:r>
                        <a:rPr lang="en-US" sz="2100" dirty="0" err="1">
                          <a:solidFill>
                            <a:srgbClr val="000000"/>
                          </a:solidFill>
                          <a:latin typeface="Garet"/>
                          <a:ea typeface="Garet"/>
                          <a:cs typeface="Garet"/>
                          <a:sym typeface="Garet"/>
                        </a:rPr>
                        <a:t>ms</a:t>
                      </a:r>
                      <a:endParaRPr lang="en-US" sz="1100" dirty="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26949">
                <a:tc>
                  <a:txBody>
                    <a:bodyPr/>
                    <a:lstStyle/>
                    <a:p>
                      <a:pPr algn="ctr">
                        <a:lnSpc>
                          <a:spcPts val="2940"/>
                        </a:lnSpc>
                        <a:defRPr/>
                      </a:pPr>
                      <a:r>
                        <a:rPr lang="en-US" sz="2100" dirty="0">
                          <a:solidFill>
                            <a:srgbClr val="000000"/>
                          </a:solidFill>
                          <a:latin typeface="Garet"/>
                          <a:sym typeface="Garet"/>
                        </a:rPr>
                        <a:t>2000</a:t>
                      </a:r>
                      <a:endParaRPr lang="en-US" sz="1100" dirty="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dirty="0">
                          <a:solidFill>
                            <a:srgbClr val="000000"/>
                          </a:solidFill>
                          <a:latin typeface="Garet"/>
                          <a:ea typeface="Garet"/>
                          <a:cs typeface="Garet"/>
                          <a:sym typeface="Garet"/>
                        </a:rPr>
                        <a:t>15 </a:t>
                      </a:r>
                      <a:r>
                        <a:rPr lang="en-US" sz="2100" dirty="0" err="1">
                          <a:solidFill>
                            <a:srgbClr val="000000"/>
                          </a:solidFill>
                          <a:latin typeface="Garet"/>
                          <a:ea typeface="Garet"/>
                          <a:cs typeface="Garet"/>
                          <a:sym typeface="Garet"/>
                        </a:rPr>
                        <a:t>ms</a:t>
                      </a:r>
                      <a:endParaRPr lang="en-US" sz="1100" dirty="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26949">
                <a:tc>
                  <a:txBody>
                    <a:bodyPr/>
                    <a:lstStyle/>
                    <a:p>
                      <a:pPr algn="ctr">
                        <a:lnSpc>
                          <a:spcPts val="2940"/>
                        </a:lnSpc>
                        <a:defRPr/>
                      </a:pPr>
                      <a:r>
                        <a:rPr lang="en-US" sz="2100" dirty="0">
                          <a:solidFill>
                            <a:srgbClr val="000000"/>
                          </a:solidFill>
                          <a:latin typeface="Garet"/>
                          <a:sym typeface="Garet"/>
                        </a:rPr>
                        <a:t>3000</a:t>
                      </a:r>
                      <a:endParaRPr lang="en-US" sz="1100" dirty="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dirty="0">
                          <a:solidFill>
                            <a:srgbClr val="000000"/>
                          </a:solidFill>
                          <a:latin typeface="Garet"/>
                          <a:ea typeface="Garet"/>
                          <a:cs typeface="Garet"/>
                          <a:sym typeface="Garet"/>
                        </a:rPr>
                        <a:t>34 </a:t>
                      </a:r>
                      <a:r>
                        <a:rPr lang="en-US" sz="2100" dirty="0" err="1">
                          <a:solidFill>
                            <a:srgbClr val="000000"/>
                          </a:solidFill>
                          <a:latin typeface="Garet"/>
                          <a:ea typeface="Garet"/>
                          <a:cs typeface="Garet"/>
                          <a:sym typeface="Garet"/>
                        </a:rPr>
                        <a:t>ms</a:t>
                      </a:r>
                      <a:endParaRPr lang="en-US" sz="1100" dirty="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26949">
                <a:tc>
                  <a:txBody>
                    <a:bodyPr/>
                    <a:lstStyle/>
                    <a:p>
                      <a:pPr algn="ctr">
                        <a:lnSpc>
                          <a:spcPts val="2940"/>
                        </a:lnSpc>
                        <a:defRPr/>
                      </a:pPr>
                      <a:r>
                        <a:rPr lang="en-US" sz="2100" dirty="0">
                          <a:solidFill>
                            <a:srgbClr val="000000"/>
                          </a:solidFill>
                          <a:latin typeface="Garet"/>
                          <a:sym typeface="Garet"/>
                        </a:rPr>
                        <a:t>4000</a:t>
                      </a:r>
                      <a:endParaRPr lang="en-US" sz="1100" dirty="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ts val="2940"/>
                        </a:lnSpc>
                        <a:defRPr/>
                      </a:pPr>
                      <a:r>
                        <a:rPr lang="en-US" sz="2100" dirty="0">
                          <a:solidFill>
                            <a:srgbClr val="000000"/>
                          </a:solidFill>
                          <a:latin typeface="Garet"/>
                          <a:ea typeface="Garet"/>
                          <a:cs typeface="Garet"/>
                          <a:sym typeface="Garet"/>
                        </a:rPr>
                        <a:t>59 </a:t>
                      </a:r>
                      <a:r>
                        <a:rPr lang="en-US" sz="2100" dirty="0" err="1">
                          <a:solidFill>
                            <a:srgbClr val="000000"/>
                          </a:solidFill>
                          <a:latin typeface="Garet"/>
                          <a:ea typeface="Garet"/>
                          <a:cs typeface="Garet"/>
                          <a:sym typeface="Garet"/>
                        </a:rPr>
                        <a:t>ms</a:t>
                      </a:r>
                      <a:endParaRPr lang="en-US" sz="1100" dirty="0"/>
                    </a:p>
                  </a:txBody>
                  <a:tcPr marL="0" marR="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Box 7"/>
          <p:cNvSpPr txBox="1"/>
          <p:nvPr/>
        </p:nvSpPr>
        <p:spPr>
          <a:xfrm>
            <a:off x="1888960" y="4896606"/>
            <a:ext cx="5108736" cy="406383"/>
          </a:xfrm>
          <a:prstGeom prst="rect">
            <a:avLst/>
          </a:prstGeom>
        </p:spPr>
        <p:txBody>
          <a:bodyPr lIns="0" tIns="0" rIns="0" bIns="0" rtlCol="0" anchor="t">
            <a:spAutoFit/>
          </a:bodyPr>
          <a:lstStyle/>
          <a:p>
            <a:pPr algn="ctr">
              <a:lnSpc>
                <a:spcPts val="3249"/>
              </a:lnSpc>
              <a:spcBef>
                <a:spcPct val="0"/>
              </a:spcBef>
            </a:pPr>
            <a:r>
              <a:rPr lang="en-US" sz="2499" b="1">
                <a:solidFill>
                  <a:srgbClr val="000000"/>
                </a:solidFill>
                <a:latin typeface="Garet Bold"/>
                <a:ea typeface="Garet Bold"/>
                <a:cs typeface="Garet Bold"/>
                <a:sym typeface="Garet Bold"/>
              </a:rPr>
              <a:t>The table for the graph (n vs t)</a:t>
            </a:r>
          </a:p>
        </p:txBody>
      </p:sp>
      <p:sp>
        <p:nvSpPr>
          <p:cNvPr id="9" name="TextBox 9"/>
          <p:cNvSpPr txBox="1"/>
          <p:nvPr/>
        </p:nvSpPr>
        <p:spPr>
          <a:xfrm>
            <a:off x="10134257" y="1683077"/>
            <a:ext cx="6494480" cy="2590655"/>
          </a:xfrm>
          <a:prstGeom prst="rect">
            <a:avLst/>
          </a:prstGeom>
        </p:spPr>
        <p:txBody>
          <a:bodyPr lIns="0" tIns="0" rIns="0" bIns="0" rtlCol="0" anchor="t">
            <a:spAutoFit/>
          </a:bodyPr>
          <a:lstStyle/>
          <a:p>
            <a:pPr algn="ctr">
              <a:lnSpc>
                <a:spcPts val="2963"/>
              </a:lnSpc>
              <a:spcBef>
                <a:spcPct val="0"/>
              </a:spcBef>
            </a:pPr>
            <a:r>
              <a:rPr lang="en-US" sz="2279">
                <a:solidFill>
                  <a:srgbClr val="000000"/>
                </a:solidFill>
                <a:latin typeface="Garet"/>
                <a:ea typeface="Garet"/>
                <a:cs typeface="Garet"/>
                <a:sym typeface="Garet"/>
              </a:rPr>
              <a:t>A polynomial trendline was added to the graph, showing a quadratic relationship.</a:t>
            </a:r>
          </a:p>
          <a:p>
            <a:pPr algn="ctr">
              <a:lnSpc>
                <a:spcPts val="2963"/>
              </a:lnSpc>
              <a:spcBef>
                <a:spcPct val="0"/>
              </a:spcBef>
            </a:pPr>
            <a:endParaRPr lang="en-US" sz="2279">
              <a:solidFill>
                <a:srgbClr val="000000"/>
              </a:solidFill>
              <a:latin typeface="Garet"/>
              <a:ea typeface="Garet"/>
              <a:cs typeface="Garet"/>
              <a:sym typeface="Garet"/>
            </a:endParaRPr>
          </a:p>
          <a:p>
            <a:pPr algn="ctr">
              <a:lnSpc>
                <a:spcPts val="2963"/>
              </a:lnSpc>
              <a:spcBef>
                <a:spcPct val="0"/>
              </a:spcBef>
            </a:pPr>
            <a:r>
              <a:rPr lang="en-US" sz="2279" b="1" u="sng">
                <a:solidFill>
                  <a:srgbClr val="000000"/>
                </a:solidFill>
                <a:latin typeface="Garet Bold"/>
                <a:ea typeface="Garet Bold"/>
                <a:cs typeface="Garet Bold"/>
                <a:sym typeface="Garet Bold"/>
              </a:rPr>
              <a:t>Trendline Equation:</a:t>
            </a:r>
          </a:p>
          <a:p>
            <a:pPr algn="ctr">
              <a:lnSpc>
                <a:spcPts val="2963"/>
              </a:lnSpc>
              <a:spcBef>
                <a:spcPct val="0"/>
              </a:spcBef>
            </a:pPr>
            <a:r>
              <a:rPr lang="en-US" sz="2279">
                <a:solidFill>
                  <a:srgbClr val="000000"/>
                </a:solidFill>
                <a:latin typeface="Garet"/>
                <a:ea typeface="Garet"/>
                <a:cs typeface="Garet"/>
                <a:sym typeface="Garet"/>
              </a:rPr>
              <a:t>The polynomial equation shows the time complexity.</a:t>
            </a:r>
          </a:p>
          <a:p>
            <a:pPr algn="ctr">
              <a:lnSpc>
                <a:spcPts val="2963"/>
              </a:lnSpc>
              <a:spcBef>
                <a:spcPct val="0"/>
              </a:spcBef>
            </a:pPr>
            <a:endParaRPr lang="en-US" sz="2279">
              <a:solidFill>
                <a:srgbClr val="000000"/>
              </a:solidFill>
              <a:latin typeface="Garet"/>
              <a:ea typeface="Garet"/>
              <a:cs typeface="Garet"/>
              <a:sym typeface="Garet"/>
            </a:endParaRPr>
          </a:p>
        </p:txBody>
      </p:sp>
      <p:sp>
        <p:nvSpPr>
          <p:cNvPr id="10" name="TextBox 10"/>
          <p:cNvSpPr txBox="1"/>
          <p:nvPr/>
        </p:nvSpPr>
        <p:spPr>
          <a:xfrm>
            <a:off x="9830156" y="9459068"/>
            <a:ext cx="7753665" cy="406383"/>
          </a:xfrm>
          <a:prstGeom prst="rect">
            <a:avLst/>
          </a:prstGeom>
        </p:spPr>
        <p:txBody>
          <a:bodyPr lIns="0" tIns="0" rIns="0" bIns="0" rtlCol="0" anchor="t">
            <a:spAutoFit/>
          </a:bodyPr>
          <a:lstStyle/>
          <a:p>
            <a:pPr algn="ctr">
              <a:lnSpc>
                <a:spcPts val="3249"/>
              </a:lnSpc>
              <a:spcBef>
                <a:spcPct val="0"/>
              </a:spcBef>
            </a:pPr>
            <a:r>
              <a:rPr lang="en-US" sz="2499" b="1">
                <a:solidFill>
                  <a:srgbClr val="000000"/>
                </a:solidFill>
                <a:latin typeface="Garet Bold"/>
                <a:ea typeface="Garet Bold"/>
                <a:cs typeface="Garet Bold"/>
                <a:sym typeface="Garet Bold"/>
              </a:rPr>
              <a:t>   Fig: Computational Time vs Number of Nodes</a:t>
            </a:r>
          </a:p>
        </p:txBody>
      </p:sp>
      <p:sp>
        <p:nvSpPr>
          <p:cNvPr id="11" name="TextBox 11"/>
          <p:cNvSpPr txBox="1"/>
          <p:nvPr/>
        </p:nvSpPr>
        <p:spPr>
          <a:xfrm>
            <a:off x="10893610" y="4245157"/>
            <a:ext cx="4975774" cy="406383"/>
          </a:xfrm>
          <a:prstGeom prst="rect">
            <a:avLst/>
          </a:prstGeom>
        </p:spPr>
        <p:txBody>
          <a:bodyPr lIns="0" tIns="0" rIns="0" bIns="0" rtlCol="0" anchor="t">
            <a:spAutoFit/>
          </a:bodyPr>
          <a:lstStyle/>
          <a:p>
            <a:pPr algn="ctr">
              <a:lnSpc>
                <a:spcPts val="3249"/>
              </a:lnSpc>
              <a:spcBef>
                <a:spcPct val="0"/>
              </a:spcBef>
            </a:pPr>
            <a:r>
              <a:rPr lang="en-US" sz="2499" b="1" dirty="0">
                <a:solidFill>
                  <a:srgbClr val="000000"/>
                </a:solidFill>
                <a:latin typeface="Garet Bold"/>
                <a:ea typeface="Garet Bold"/>
                <a:cs typeface="Garet Bold"/>
                <a:sym typeface="Garet Bold"/>
              </a:rPr>
              <a:t>    y = 3.5714x^2+0.5714x-0.2</a:t>
            </a:r>
          </a:p>
        </p:txBody>
      </p:sp>
      <p:pic>
        <p:nvPicPr>
          <p:cNvPr id="1026" name="Picture 2">
            <a:extLst>
              <a:ext uri="{FF2B5EF4-FFF2-40B4-BE49-F238E27FC236}">
                <a16:creationId xmlns:a16="http://schemas.microsoft.com/office/drawing/2014/main" id="{B85FAEFB-2E9D-AB1B-CBC4-CA2F36C4C6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63199" y="5143500"/>
            <a:ext cx="7010401" cy="36576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Table 11">
            <a:extLst>
              <a:ext uri="{FF2B5EF4-FFF2-40B4-BE49-F238E27FC236}">
                <a16:creationId xmlns:a16="http://schemas.microsoft.com/office/drawing/2014/main" id="{54AA3694-B61F-CAD3-E456-DCE7D4AC1120}"/>
              </a:ext>
            </a:extLst>
          </p:cNvPr>
          <p:cNvGraphicFramePr>
            <a:graphicFrameLocks noGrp="1"/>
          </p:cNvGraphicFramePr>
          <p:nvPr>
            <p:extLst>
              <p:ext uri="{D42A27DB-BD31-4B8C-83A1-F6EECF244321}">
                <p14:modId xmlns:p14="http://schemas.microsoft.com/office/powerpoint/2010/main" val="363451479"/>
              </p:ext>
            </p:extLst>
          </p:nvPr>
        </p:nvGraphicFramePr>
        <p:xfrm>
          <a:off x="381004" y="8648700"/>
          <a:ext cx="8361683" cy="457200"/>
        </p:xfrm>
        <a:graphic>
          <a:graphicData uri="http://schemas.openxmlformats.org/drawingml/2006/table">
            <a:tbl>
              <a:tblPr/>
              <a:tblGrid>
                <a:gridCol w="4267196">
                  <a:extLst>
                    <a:ext uri="{9D8B030D-6E8A-4147-A177-3AD203B41FA5}">
                      <a16:colId xmlns:a16="http://schemas.microsoft.com/office/drawing/2014/main" val="4182823373"/>
                    </a:ext>
                  </a:extLst>
                </a:gridCol>
                <a:gridCol w="4094487">
                  <a:extLst>
                    <a:ext uri="{9D8B030D-6E8A-4147-A177-3AD203B41FA5}">
                      <a16:colId xmlns:a16="http://schemas.microsoft.com/office/drawing/2014/main" val="3484317626"/>
                    </a:ext>
                  </a:extLst>
                </a:gridCol>
              </a:tblGrid>
              <a:tr h="457200">
                <a:tc>
                  <a:txBody>
                    <a:bodyPr/>
                    <a:lstStyle/>
                    <a:p>
                      <a:pPr algn="ctr"/>
                      <a:r>
                        <a:rPr lang="en-US" sz="2100" b="1" dirty="0">
                          <a:latin typeface="Garet" panose="020B0604020202020204" charset="0"/>
                        </a:rPr>
                        <a:t>5000</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tcPr>
                </a:tc>
                <a:tc>
                  <a:txBody>
                    <a:bodyPr/>
                    <a:lstStyle/>
                    <a:p>
                      <a:pPr algn="ctr"/>
                      <a:r>
                        <a:rPr lang="en-US" sz="2100" b="1" dirty="0">
                          <a:latin typeface="Garet" panose="020B0604020202020204" charset="0"/>
                        </a:rPr>
                        <a:t>92 </a:t>
                      </a:r>
                      <a:r>
                        <a:rPr lang="en-US" sz="2100" b="1" dirty="0" err="1">
                          <a:latin typeface="Garet" panose="020B0604020202020204" charset="0"/>
                        </a:rPr>
                        <a:t>ms</a:t>
                      </a:r>
                      <a:endParaRPr lang="en-US" sz="2100" b="1" dirty="0">
                        <a:latin typeface="Garet" panose="020B0604020202020204" charset="0"/>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66729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TextBox 3"/>
          <p:cNvSpPr txBox="1"/>
          <p:nvPr/>
        </p:nvSpPr>
        <p:spPr>
          <a:xfrm>
            <a:off x="2292540" y="196216"/>
            <a:ext cx="18718186" cy="1017386"/>
          </a:xfrm>
          <a:prstGeom prst="rect">
            <a:avLst/>
          </a:prstGeom>
        </p:spPr>
        <p:txBody>
          <a:bodyPr lIns="0" tIns="0" rIns="0" bIns="0" rtlCol="0" anchor="t">
            <a:spAutoFit/>
          </a:bodyPr>
          <a:lstStyle/>
          <a:p>
            <a:pPr algn="l">
              <a:lnSpc>
                <a:spcPts val="7942"/>
              </a:lnSpc>
            </a:pPr>
            <a:r>
              <a:rPr lang="en-US" sz="6619" u="sng">
                <a:solidFill>
                  <a:srgbClr val="000000"/>
                </a:solidFill>
                <a:latin typeface="Archivo Black"/>
                <a:ea typeface="Archivo Black"/>
                <a:cs typeface="Archivo Black"/>
                <a:sym typeface="Archivo Black"/>
              </a:rPr>
              <a:t>“Time Complexity Analysis:”</a:t>
            </a:r>
          </a:p>
        </p:txBody>
      </p:sp>
      <p:sp>
        <p:nvSpPr>
          <p:cNvPr id="4" name="TextBox 4"/>
          <p:cNvSpPr txBox="1"/>
          <p:nvPr/>
        </p:nvSpPr>
        <p:spPr>
          <a:xfrm>
            <a:off x="1028700" y="2073788"/>
            <a:ext cx="8654960" cy="6567298"/>
          </a:xfrm>
          <a:prstGeom prst="rect">
            <a:avLst/>
          </a:prstGeom>
        </p:spPr>
        <p:txBody>
          <a:bodyPr lIns="0" tIns="0" rIns="0" bIns="0" rtlCol="0" anchor="t">
            <a:spAutoFit/>
          </a:bodyPr>
          <a:lstStyle/>
          <a:p>
            <a:pPr algn="ctr">
              <a:lnSpc>
                <a:spcPts val="3509"/>
              </a:lnSpc>
            </a:pPr>
            <a:endParaRPr/>
          </a:p>
          <a:p>
            <a:pPr algn="ctr">
              <a:lnSpc>
                <a:spcPts val="3509"/>
              </a:lnSpc>
            </a:pPr>
            <a:endParaRPr/>
          </a:p>
          <a:p>
            <a:pPr algn="ctr">
              <a:lnSpc>
                <a:spcPts val="3509"/>
              </a:lnSpc>
            </a:pPr>
            <a:endParaRPr/>
          </a:p>
          <a:p>
            <a:pPr algn="ctr">
              <a:lnSpc>
                <a:spcPts val="3509"/>
              </a:lnSpc>
              <a:spcBef>
                <a:spcPct val="0"/>
              </a:spcBef>
            </a:pPr>
            <a:endParaRPr/>
          </a:p>
          <a:p>
            <a:pPr algn="ctr">
              <a:lnSpc>
                <a:spcPts val="3509"/>
              </a:lnSpc>
              <a:spcBef>
                <a:spcPct val="0"/>
              </a:spcBef>
            </a:pPr>
            <a:r>
              <a:rPr lang="en-US" sz="2699">
                <a:solidFill>
                  <a:srgbClr val="000000"/>
                </a:solidFill>
                <a:latin typeface="Garet"/>
                <a:ea typeface="Garet"/>
                <a:cs typeface="Garet"/>
                <a:sym typeface="Garet"/>
              </a:rPr>
              <a:t>Using the Excel graph and polynomial trendline:</a:t>
            </a:r>
          </a:p>
          <a:p>
            <a:pPr algn="ctr">
              <a:lnSpc>
                <a:spcPts val="3509"/>
              </a:lnSpc>
              <a:spcBef>
                <a:spcPct val="0"/>
              </a:spcBef>
            </a:pPr>
            <a:endParaRPr lang="en-US" sz="2699">
              <a:solidFill>
                <a:srgbClr val="000000"/>
              </a:solidFill>
              <a:latin typeface="Garet"/>
              <a:ea typeface="Garet"/>
              <a:cs typeface="Garet"/>
              <a:sym typeface="Garet"/>
            </a:endParaRPr>
          </a:p>
          <a:p>
            <a:pPr algn="ctr">
              <a:lnSpc>
                <a:spcPts val="3509"/>
              </a:lnSpc>
              <a:spcBef>
                <a:spcPct val="0"/>
              </a:spcBef>
            </a:pPr>
            <a:endParaRPr lang="en-US" sz="2699">
              <a:solidFill>
                <a:srgbClr val="000000"/>
              </a:solidFill>
              <a:latin typeface="Garet"/>
              <a:ea typeface="Garet"/>
              <a:cs typeface="Garet"/>
              <a:sym typeface="Garet"/>
            </a:endParaRPr>
          </a:p>
          <a:p>
            <a:pPr algn="ctr">
              <a:lnSpc>
                <a:spcPts val="3509"/>
              </a:lnSpc>
              <a:spcBef>
                <a:spcPct val="0"/>
              </a:spcBef>
            </a:pPr>
            <a:r>
              <a:rPr lang="en-US" sz="2699">
                <a:solidFill>
                  <a:srgbClr val="000000"/>
                </a:solidFill>
                <a:latin typeface="Garet"/>
                <a:ea typeface="Garet"/>
                <a:cs typeface="Garet"/>
                <a:sym typeface="Garet"/>
              </a:rPr>
              <a:t>1. </a:t>
            </a:r>
            <a:r>
              <a:rPr lang="en-US" sz="2699" b="1">
                <a:solidFill>
                  <a:srgbClr val="000000"/>
                </a:solidFill>
                <a:latin typeface="Garet Bold"/>
                <a:ea typeface="Garet Bold"/>
                <a:cs typeface="Garet Bold"/>
                <a:sym typeface="Garet Bold"/>
              </a:rPr>
              <a:t>The derived equation is of the form:</a:t>
            </a:r>
          </a:p>
          <a:p>
            <a:pPr algn="ctr">
              <a:lnSpc>
                <a:spcPts val="3509"/>
              </a:lnSpc>
              <a:spcBef>
                <a:spcPct val="0"/>
              </a:spcBef>
            </a:pPr>
            <a:endParaRPr lang="en-US" sz="2699" b="1">
              <a:solidFill>
                <a:srgbClr val="000000"/>
              </a:solidFill>
              <a:latin typeface="Garet Bold"/>
              <a:ea typeface="Garet Bold"/>
              <a:cs typeface="Garet Bold"/>
              <a:sym typeface="Garet Bold"/>
            </a:endParaRPr>
          </a:p>
          <a:p>
            <a:pPr algn="ctr">
              <a:lnSpc>
                <a:spcPts val="3509"/>
              </a:lnSpc>
              <a:spcBef>
                <a:spcPct val="0"/>
              </a:spcBef>
            </a:pPr>
            <a:r>
              <a:rPr lang="en-US" sz="2699" b="1">
                <a:solidFill>
                  <a:srgbClr val="000000"/>
                </a:solidFill>
                <a:latin typeface="Garet Bold"/>
                <a:ea typeface="Garet Bold"/>
                <a:cs typeface="Garet Bold"/>
                <a:sym typeface="Garet Bold"/>
              </a:rPr>
              <a:t>      T(n) = an^2 + bn + c,</a:t>
            </a:r>
          </a:p>
          <a:p>
            <a:pPr algn="ctr">
              <a:lnSpc>
                <a:spcPts val="3509"/>
              </a:lnSpc>
              <a:spcBef>
                <a:spcPct val="0"/>
              </a:spcBef>
            </a:pPr>
            <a:r>
              <a:rPr lang="en-US" sz="2699" b="1">
                <a:solidFill>
                  <a:srgbClr val="000000"/>
                </a:solidFill>
                <a:latin typeface="Garet Bold"/>
                <a:ea typeface="Garet Bold"/>
                <a:cs typeface="Garet Bold"/>
                <a:sym typeface="Garet Bold"/>
              </a:rPr>
              <a:t> </a:t>
            </a:r>
            <a:r>
              <a:rPr lang="en-US" sz="2699">
                <a:solidFill>
                  <a:srgbClr val="000000"/>
                </a:solidFill>
                <a:latin typeface="Garet"/>
                <a:ea typeface="Garet"/>
                <a:cs typeface="Garet"/>
                <a:sym typeface="Garet"/>
              </a:rPr>
              <a:t> indicating a quadratic relationship.</a:t>
            </a:r>
          </a:p>
          <a:p>
            <a:pPr algn="ctr">
              <a:lnSpc>
                <a:spcPts val="3509"/>
              </a:lnSpc>
              <a:spcBef>
                <a:spcPct val="0"/>
              </a:spcBef>
            </a:pPr>
            <a:endParaRPr lang="en-US" sz="2699">
              <a:solidFill>
                <a:srgbClr val="000000"/>
              </a:solidFill>
              <a:latin typeface="Garet"/>
              <a:ea typeface="Garet"/>
              <a:cs typeface="Garet"/>
              <a:sym typeface="Garet"/>
            </a:endParaRPr>
          </a:p>
          <a:p>
            <a:pPr algn="ctr">
              <a:lnSpc>
                <a:spcPts val="3509"/>
              </a:lnSpc>
              <a:spcBef>
                <a:spcPct val="0"/>
              </a:spcBef>
            </a:pPr>
            <a:r>
              <a:rPr lang="en-US" sz="2699" b="1">
                <a:solidFill>
                  <a:srgbClr val="000000"/>
                </a:solidFill>
                <a:latin typeface="Garet Bold"/>
                <a:ea typeface="Garet Bold"/>
                <a:cs typeface="Garet Bold"/>
                <a:sym typeface="Garet Bold"/>
              </a:rPr>
              <a:t>2. Coefficients a, b, and c are obtained from the trendline equation.</a:t>
            </a:r>
          </a:p>
          <a:p>
            <a:pPr algn="ctr">
              <a:lnSpc>
                <a:spcPts val="3509"/>
              </a:lnSpc>
              <a:spcBef>
                <a:spcPct val="0"/>
              </a:spcBef>
            </a:pPr>
            <a:r>
              <a:rPr lang="en-US" sz="2699" b="1">
                <a:solidFill>
                  <a:srgbClr val="000000"/>
                </a:solidFill>
                <a:latin typeface="Garet Bold"/>
                <a:ea typeface="Garet Bold"/>
                <a:cs typeface="Garet Bold"/>
                <a:sym typeface="Garet Bold"/>
              </a:rPr>
              <a:t>    </a:t>
            </a:r>
          </a:p>
        </p:txBody>
      </p:sp>
      <p:sp>
        <p:nvSpPr>
          <p:cNvPr id="5" name="TextBox 5"/>
          <p:cNvSpPr txBox="1"/>
          <p:nvPr/>
        </p:nvSpPr>
        <p:spPr>
          <a:xfrm>
            <a:off x="3799728" y="2073788"/>
            <a:ext cx="9633040" cy="907325"/>
          </a:xfrm>
          <a:prstGeom prst="rect">
            <a:avLst/>
          </a:prstGeom>
        </p:spPr>
        <p:txBody>
          <a:bodyPr lIns="0" tIns="0" rIns="0" bIns="0" rtlCol="0" anchor="t">
            <a:spAutoFit/>
          </a:bodyPr>
          <a:lstStyle/>
          <a:p>
            <a:pPr algn="ctr">
              <a:lnSpc>
                <a:spcPts val="3639"/>
              </a:lnSpc>
              <a:spcBef>
                <a:spcPct val="0"/>
              </a:spcBef>
            </a:pPr>
            <a:r>
              <a:rPr lang="en-US" sz="2799" b="1" i="1" u="sng">
                <a:solidFill>
                  <a:srgbClr val="000000"/>
                </a:solidFill>
                <a:latin typeface="Garet Bold Italics"/>
                <a:ea typeface="Garet Bold Italics"/>
                <a:cs typeface="Garet Bold Italics"/>
                <a:sym typeface="Garet Bold Italics"/>
              </a:rPr>
              <a:t>Calculation of the Time Complexity from the Graph:</a:t>
            </a:r>
          </a:p>
        </p:txBody>
      </p:sp>
      <p:sp>
        <p:nvSpPr>
          <p:cNvPr id="7" name="TextBox 7"/>
          <p:cNvSpPr txBox="1"/>
          <p:nvPr/>
        </p:nvSpPr>
        <p:spPr>
          <a:xfrm>
            <a:off x="10241883" y="9229725"/>
            <a:ext cx="7753665" cy="406383"/>
          </a:xfrm>
          <a:prstGeom prst="rect">
            <a:avLst/>
          </a:prstGeom>
        </p:spPr>
        <p:txBody>
          <a:bodyPr lIns="0" tIns="0" rIns="0" bIns="0" rtlCol="0" anchor="t">
            <a:spAutoFit/>
          </a:bodyPr>
          <a:lstStyle/>
          <a:p>
            <a:pPr algn="ctr">
              <a:lnSpc>
                <a:spcPts val="3249"/>
              </a:lnSpc>
              <a:spcBef>
                <a:spcPct val="0"/>
              </a:spcBef>
            </a:pPr>
            <a:r>
              <a:rPr lang="en-US" sz="2499" b="1">
                <a:solidFill>
                  <a:srgbClr val="000000"/>
                </a:solidFill>
                <a:latin typeface="Garet Bold"/>
                <a:ea typeface="Garet Bold"/>
                <a:cs typeface="Garet Bold"/>
                <a:sym typeface="Garet Bold"/>
              </a:rPr>
              <a:t>   Fig: Computational Time vs Number of Nodes</a:t>
            </a:r>
          </a:p>
        </p:txBody>
      </p:sp>
      <p:pic>
        <p:nvPicPr>
          <p:cNvPr id="2050" name="Picture 2">
            <a:extLst>
              <a:ext uri="{FF2B5EF4-FFF2-40B4-BE49-F238E27FC236}">
                <a16:creationId xmlns:a16="http://schemas.microsoft.com/office/drawing/2014/main" id="{8A95A14F-65F1-548C-2836-F7777D722F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55120" y="4762500"/>
            <a:ext cx="7927190" cy="41359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TextBox 3"/>
          <p:cNvSpPr txBox="1"/>
          <p:nvPr/>
        </p:nvSpPr>
        <p:spPr>
          <a:xfrm>
            <a:off x="1959165" y="196216"/>
            <a:ext cx="18718186" cy="1017386"/>
          </a:xfrm>
          <a:prstGeom prst="rect">
            <a:avLst/>
          </a:prstGeom>
        </p:spPr>
        <p:txBody>
          <a:bodyPr lIns="0" tIns="0" rIns="0" bIns="0" rtlCol="0" anchor="t">
            <a:spAutoFit/>
          </a:bodyPr>
          <a:lstStyle/>
          <a:p>
            <a:pPr algn="l">
              <a:lnSpc>
                <a:spcPts val="7942"/>
              </a:lnSpc>
            </a:pPr>
            <a:r>
              <a:rPr lang="en-US" sz="6619" u="sng">
                <a:solidFill>
                  <a:srgbClr val="000000"/>
                </a:solidFill>
                <a:latin typeface="Archivo Black"/>
                <a:ea typeface="Archivo Black"/>
                <a:cs typeface="Archivo Black"/>
                <a:sym typeface="Archivo Black"/>
              </a:rPr>
              <a:t>“Time Complexity Analysis:”</a:t>
            </a:r>
          </a:p>
        </p:txBody>
      </p:sp>
      <p:sp>
        <p:nvSpPr>
          <p:cNvPr id="4" name="TextBox 4"/>
          <p:cNvSpPr txBox="1"/>
          <p:nvPr/>
        </p:nvSpPr>
        <p:spPr>
          <a:xfrm>
            <a:off x="4606985" y="2705100"/>
            <a:ext cx="8593395" cy="2455800"/>
          </a:xfrm>
          <a:prstGeom prst="rect">
            <a:avLst/>
          </a:prstGeom>
        </p:spPr>
        <p:txBody>
          <a:bodyPr lIns="0" tIns="0" rIns="0" bIns="0" rtlCol="0" anchor="t">
            <a:spAutoFit/>
          </a:bodyPr>
          <a:lstStyle/>
          <a:p>
            <a:pPr algn="ctr">
              <a:lnSpc>
                <a:spcPts val="3249"/>
              </a:lnSpc>
              <a:spcBef>
                <a:spcPct val="0"/>
              </a:spcBef>
            </a:pPr>
            <a:endParaRPr lang="en-US" sz="2499" dirty="0">
              <a:solidFill>
                <a:srgbClr val="000000"/>
              </a:solidFill>
              <a:latin typeface="Garet"/>
              <a:ea typeface="Garet"/>
              <a:cs typeface="Garet"/>
              <a:sym typeface="Garet"/>
            </a:endParaRPr>
          </a:p>
          <a:p>
            <a:pPr algn="ctr">
              <a:lnSpc>
                <a:spcPts val="3249"/>
              </a:lnSpc>
              <a:spcBef>
                <a:spcPct val="0"/>
              </a:spcBef>
            </a:pPr>
            <a:endParaRPr lang="en-US" sz="2499" dirty="0">
              <a:solidFill>
                <a:srgbClr val="000000"/>
              </a:solidFill>
              <a:latin typeface="Garet"/>
              <a:ea typeface="Garet"/>
              <a:cs typeface="Garet"/>
              <a:sym typeface="Garet"/>
            </a:endParaRPr>
          </a:p>
          <a:p>
            <a:pPr algn="ctr">
              <a:lnSpc>
                <a:spcPts val="3249"/>
              </a:lnSpc>
              <a:spcBef>
                <a:spcPct val="0"/>
              </a:spcBef>
            </a:pPr>
            <a:r>
              <a:rPr lang="en-US" sz="2499" b="1" i="1" u="sng" dirty="0">
                <a:solidFill>
                  <a:srgbClr val="000000"/>
                </a:solidFill>
                <a:latin typeface="Garet Bold Italics"/>
                <a:ea typeface="Garet Bold Italics"/>
                <a:cs typeface="Garet Bold Italics"/>
                <a:sym typeface="Garet Bold Italics"/>
              </a:rPr>
              <a:t> Time Complexity</a:t>
            </a:r>
            <a:r>
              <a:rPr lang="en-US" sz="2499" b="1" dirty="0">
                <a:solidFill>
                  <a:srgbClr val="000000"/>
                </a:solidFill>
                <a:latin typeface="Garet Bold"/>
                <a:ea typeface="Garet Bold"/>
                <a:cs typeface="Garet Bold"/>
                <a:sym typeface="Garet Bold"/>
              </a:rPr>
              <a:t>: </a:t>
            </a:r>
          </a:p>
          <a:p>
            <a:pPr algn="ctr">
              <a:lnSpc>
                <a:spcPts val="3249"/>
              </a:lnSpc>
              <a:spcBef>
                <a:spcPct val="0"/>
              </a:spcBef>
            </a:pPr>
            <a:endParaRPr lang="en-US" sz="2499" b="1" dirty="0">
              <a:solidFill>
                <a:srgbClr val="000000"/>
              </a:solidFill>
              <a:latin typeface="Garet Bold"/>
              <a:ea typeface="Garet Bold"/>
              <a:cs typeface="Garet Bold"/>
              <a:sym typeface="Garet Bold"/>
            </a:endParaRPr>
          </a:p>
          <a:p>
            <a:pPr algn="ctr">
              <a:lnSpc>
                <a:spcPts val="3249"/>
              </a:lnSpc>
              <a:spcBef>
                <a:spcPct val="0"/>
              </a:spcBef>
            </a:pPr>
            <a:r>
              <a:rPr lang="en-US" sz="2499" dirty="0">
                <a:solidFill>
                  <a:srgbClr val="000000"/>
                </a:solidFill>
                <a:latin typeface="Garet"/>
                <a:ea typeface="Garet"/>
                <a:cs typeface="Garet"/>
                <a:sym typeface="Garet"/>
              </a:rPr>
              <a:t>O (n^2 + e), but since e ≤ n^2, the complexity simplifies to O(n^2).</a:t>
            </a:r>
          </a:p>
        </p:txBody>
      </p:sp>
      <p:sp>
        <p:nvSpPr>
          <p:cNvPr id="5" name="TextBox 5"/>
          <p:cNvSpPr txBox="1"/>
          <p:nvPr/>
        </p:nvSpPr>
        <p:spPr>
          <a:xfrm>
            <a:off x="4692159" y="1630522"/>
            <a:ext cx="8903682" cy="897682"/>
          </a:xfrm>
          <a:prstGeom prst="rect">
            <a:avLst/>
          </a:prstGeom>
        </p:spPr>
        <p:txBody>
          <a:bodyPr lIns="0" tIns="0" rIns="0" bIns="0" rtlCol="0" anchor="t">
            <a:spAutoFit/>
          </a:bodyPr>
          <a:lstStyle/>
          <a:p>
            <a:pPr algn="ctr">
              <a:lnSpc>
                <a:spcPts val="3509"/>
              </a:lnSpc>
              <a:spcBef>
                <a:spcPct val="0"/>
              </a:spcBef>
            </a:pPr>
            <a:r>
              <a:rPr lang="en-US" sz="2699" b="1" i="1" u="sng" dirty="0">
                <a:solidFill>
                  <a:srgbClr val="000000"/>
                </a:solidFill>
                <a:latin typeface="Garet Bold Italics"/>
                <a:ea typeface="Garet Bold Italics"/>
                <a:cs typeface="Garet Bold Italics"/>
                <a:sym typeface="Garet Bold Italics"/>
              </a:rPr>
              <a:t> Equation </a:t>
            </a:r>
            <a:r>
              <a:rPr lang="en-US" sz="2800" b="1" dirty="0">
                <a:solidFill>
                  <a:srgbClr val="000000"/>
                </a:solidFill>
                <a:latin typeface="Garet Bold"/>
                <a:ea typeface="Garet Bold"/>
                <a:cs typeface="Garet Bold"/>
                <a:sym typeface="Garet Bold"/>
              </a:rPr>
              <a:t> </a:t>
            </a:r>
          </a:p>
          <a:p>
            <a:pPr algn="ctr">
              <a:lnSpc>
                <a:spcPts val="3509"/>
              </a:lnSpc>
              <a:spcBef>
                <a:spcPct val="0"/>
              </a:spcBef>
            </a:pPr>
            <a:r>
              <a:rPr lang="en-US" sz="2800" b="1" dirty="0">
                <a:solidFill>
                  <a:srgbClr val="000000"/>
                </a:solidFill>
                <a:latin typeface="Garet Bold"/>
                <a:ea typeface="Garet Bold"/>
                <a:cs typeface="Garet Bold"/>
                <a:sym typeface="Garet Bold"/>
              </a:rPr>
              <a:t>    (y = 3.5714x^2+0.5714x-0.2)</a:t>
            </a:r>
            <a:r>
              <a:rPr lang="en-US" sz="2699" b="1" i="1" u="sng" dirty="0">
                <a:solidFill>
                  <a:srgbClr val="000000"/>
                </a:solidFill>
                <a:latin typeface="Garet Bold Italics"/>
                <a:ea typeface="Garet Bold Italics"/>
                <a:cs typeface="Garet Bold Italics"/>
                <a:sym typeface="Garet Bold Italics"/>
              </a:rPr>
              <a:t>:</a:t>
            </a:r>
          </a:p>
        </p:txBody>
      </p:sp>
      <p:sp>
        <p:nvSpPr>
          <p:cNvPr id="6" name="Freeform 6"/>
          <p:cNvSpPr/>
          <p:nvPr/>
        </p:nvSpPr>
        <p:spPr>
          <a:xfrm rot="-2700000">
            <a:off x="-2858946" y="-4473568"/>
            <a:ext cx="4711905" cy="7425639"/>
          </a:xfrm>
          <a:custGeom>
            <a:avLst/>
            <a:gdLst/>
            <a:ahLst/>
            <a:cxnLst/>
            <a:rect l="l" t="t" r="r" b="b"/>
            <a:pathLst>
              <a:path w="4711905" h="7425639">
                <a:moveTo>
                  <a:pt x="0" y="0"/>
                </a:moveTo>
                <a:lnTo>
                  <a:pt x="4711905" y="0"/>
                </a:lnTo>
                <a:lnTo>
                  <a:pt x="4711905" y="7425639"/>
                </a:lnTo>
                <a:lnTo>
                  <a:pt x="0" y="7425639"/>
                </a:lnTo>
                <a:lnTo>
                  <a:pt x="0" y="0"/>
                </a:lnTo>
                <a:close/>
              </a:path>
            </a:pathLst>
          </a:custGeom>
          <a:blipFill>
            <a:blip r:embed="rId3">
              <a:alphaModFix amt="36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rot="7940814">
            <a:off x="15932047" y="6861587"/>
            <a:ext cx="4711905" cy="7425639"/>
          </a:xfrm>
          <a:custGeom>
            <a:avLst/>
            <a:gdLst/>
            <a:ahLst/>
            <a:cxnLst/>
            <a:rect l="l" t="t" r="r" b="b"/>
            <a:pathLst>
              <a:path w="4711905" h="7425639">
                <a:moveTo>
                  <a:pt x="0" y="0"/>
                </a:moveTo>
                <a:lnTo>
                  <a:pt x="4711906" y="0"/>
                </a:lnTo>
                <a:lnTo>
                  <a:pt x="4711906" y="7425639"/>
                </a:lnTo>
                <a:lnTo>
                  <a:pt x="0" y="7425639"/>
                </a:lnTo>
                <a:lnTo>
                  <a:pt x="0" y="0"/>
                </a:lnTo>
                <a:close/>
              </a:path>
            </a:pathLst>
          </a:custGeom>
          <a:blipFill>
            <a:blip r:embed="rId3">
              <a:alphaModFix amt="36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8" name="Group 8"/>
          <p:cNvGrpSpPr/>
          <p:nvPr/>
        </p:nvGrpSpPr>
        <p:grpSpPr>
          <a:xfrm>
            <a:off x="13069816" y="2473093"/>
            <a:ext cx="2265666" cy="2263265"/>
            <a:chOff x="0" y="0"/>
            <a:chExt cx="3020888" cy="3017687"/>
          </a:xfrm>
        </p:grpSpPr>
        <p:sp>
          <p:nvSpPr>
            <p:cNvPr id="9" name="Freeform 9"/>
            <p:cNvSpPr/>
            <p:nvPr/>
          </p:nvSpPr>
          <p:spPr>
            <a:xfrm rot="-5400000">
              <a:off x="-748935" y="748935"/>
              <a:ext cx="3017687" cy="1519817"/>
            </a:xfrm>
            <a:custGeom>
              <a:avLst/>
              <a:gdLst/>
              <a:ahLst/>
              <a:cxnLst/>
              <a:rect l="l" t="t" r="r" b="b"/>
              <a:pathLst>
                <a:path w="3017687" h="1519817">
                  <a:moveTo>
                    <a:pt x="0" y="0"/>
                  </a:moveTo>
                  <a:lnTo>
                    <a:pt x="3017687" y="0"/>
                  </a:lnTo>
                  <a:lnTo>
                    <a:pt x="3017687" y="1519817"/>
                  </a:lnTo>
                  <a:lnTo>
                    <a:pt x="0" y="1519817"/>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Freeform 10"/>
            <p:cNvSpPr/>
            <p:nvPr/>
          </p:nvSpPr>
          <p:spPr>
            <a:xfrm rot="5478197">
              <a:off x="757973" y="771700"/>
              <a:ext cx="2965326" cy="1493446"/>
            </a:xfrm>
            <a:custGeom>
              <a:avLst/>
              <a:gdLst/>
              <a:ahLst/>
              <a:cxnLst/>
              <a:rect l="l" t="t" r="r" b="b"/>
              <a:pathLst>
                <a:path w="2965326" h="1493446">
                  <a:moveTo>
                    <a:pt x="0" y="0"/>
                  </a:moveTo>
                  <a:lnTo>
                    <a:pt x="2965326" y="0"/>
                  </a:lnTo>
                  <a:lnTo>
                    <a:pt x="2965326" y="1493446"/>
                  </a:lnTo>
                  <a:lnTo>
                    <a:pt x="0" y="1493446"/>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grpSp>
      <p:grpSp>
        <p:nvGrpSpPr>
          <p:cNvPr id="11" name="Group 11"/>
          <p:cNvGrpSpPr/>
          <p:nvPr/>
        </p:nvGrpSpPr>
        <p:grpSpPr>
          <a:xfrm>
            <a:off x="5207378" y="4347715"/>
            <a:ext cx="2265666" cy="2263265"/>
            <a:chOff x="0" y="0"/>
            <a:chExt cx="3020888" cy="3017687"/>
          </a:xfrm>
        </p:grpSpPr>
        <p:sp>
          <p:nvSpPr>
            <p:cNvPr id="12" name="Freeform 12"/>
            <p:cNvSpPr/>
            <p:nvPr/>
          </p:nvSpPr>
          <p:spPr>
            <a:xfrm rot="-5400000">
              <a:off x="-748935" y="748935"/>
              <a:ext cx="3017687" cy="1519817"/>
            </a:xfrm>
            <a:custGeom>
              <a:avLst/>
              <a:gdLst/>
              <a:ahLst/>
              <a:cxnLst/>
              <a:rect l="l" t="t" r="r" b="b"/>
              <a:pathLst>
                <a:path w="3017687" h="1519817">
                  <a:moveTo>
                    <a:pt x="0" y="0"/>
                  </a:moveTo>
                  <a:lnTo>
                    <a:pt x="3017687" y="0"/>
                  </a:lnTo>
                  <a:lnTo>
                    <a:pt x="3017687" y="1519817"/>
                  </a:lnTo>
                  <a:lnTo>
                    <a:pt x="0" y="1519817"/>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3" name="Freeform 13"/>
            <p:cNvSpPr/>
            <p:nvPr/>
          </p:nvSpPr>
          <p:spPr>
            <a:xfrm rot="5478197">
              <a:off x="757973" y="771700"/>
              <a:ext cx="2965326" cy="1493446"/>
            </a:xfrm>
            <a:custGeom>
              <a:avLst/>
              <a:gdLst/>
              <a:ahLst/>
              <a:cxnLst/>
              <a:rect l="l" t="t" r="r" b="b"/>
              <a:pathLst>
                <a:path w="2965326" h="1493446">
                  <a:moveTo>
                    <a:pt x="0" y="0"/>
                  </a:moveTo>
                  <a:lnTo>
                    <a:pt x="2965326" y="0"/>
                  </a:lnTo>
                  <a:lnTo>
                    <a:pt x="2965326" y="1493446"/>
                  </a:lnTo>
                  <a:lnTo>
                    <a:pt x="0" y="1493446"/>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grpSp>
      <p:grpSp>
        <p:nvGrpSpPr>
          <p:cNvPr id="14" name="Group 14"/>
          <p:cNvGrpSpPr/>
          <p:nvPr/>
        </p:nvGrpSpPr>
        <p:grpSpPr>
          <a:xfrm>
            <a:off x="3470698" y="8126668"/>
            <a:ext cx="2265666" cy="2263265"/>
            <a:chOff x="0" y="0"/>
            <a:chExt cx="3020888" cy="3017687"/>
          </a:xfrm>
        </p:grpSpPr>
        <p:sp>
          <p:nvSpPr>
            <p:cNvPr id="15" name="Freeform 15"/>
            <p:cNvSpPr/>
            <p:nvPr/>
          </p:nvSpPr>
          <p:spPr>
            <a:xfrm rot="-5400000">
              <a:off x="-748935" y="748935"/>
              <a:ext cx="3017687" cy="1519817"/>
            </a:xfrm>
            <a:custGeom>
              <a:avLst/>
              <a:gdLst/>
              <a:ahLst/>
              <a:cxnLst/>
              <a:rect l="l" t="t" r="r" b="b"/>
              <a:pathLst>
                <a:path w="3017687" h="1519817">
                  <a:moveTo>
                    <a:pt x="0" y="0"/>
                  </a:moveTo>
                  <a:lnTo>
                    <a:pt x="3017687" y="0"/>
                  </a:lnTo>
                  <a:lnTo>
                    <a:pt x="3017687" y="1519817"/>
                  </a:lnTo>
                  <a:lnTo>
                    <a:pt x="0" y="1519817"/>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6" name="Freeform 16"/>
            <p:cNvSpPr/>
            <p:nvPr/>
          </p:nvSpPr>
          <p:spPr>
            <a:xfrm rot="5478197">
              <a:off x="757973" y="771700"/>
              <a:ext cx="2965326" cy="1493446"/>
            </a:xfrm>
            <a:custGeom>
              <a:avLst/>
              <a:gdLst/>
              <a:ahLst/>
              <a:cxnLst/>
              <a:rect l="l" t="t" r="r" b="b"/>
              <a:pathLst>
                <a:path w="2965326" h="1493446">
                  <a:moveTo>
                    <a:pt x="0" y="0"/>
                  </a:moveTo>
                  <a:lnTo>
                    <a:pt x="2965326" y="0"/>
                  </a:lnTo>
                  <a:lnTo>
                    <a:pt x="2965326" y="1493446"/>
                  </a:lnTo>
                  <a:lnTo>
                    <a:pt x="0" y="1493446"/>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grpSp>
      <p:grpSp>
        <p:nvGrpSpPr>
          <p:cNvPr id="17" name="Group 17"/>
          <p:cNvGrpSpPr/>
          <p:nvPr/>
        </p:nvGrpSpPr>
        <p:grpSpPr>
          <a:xfrm>
            <a:off x="406051" y="4919689"/>
            <a:ext cx="2265666" cy="2263265"/>
            <a:chOff x="0" y="0"/>
            <a:chExt cx="3020888" cy="3017687"/>
          </a:xfrm>
        </p:grpSpPr>
        <p:sp>
          <p:nvSpPr>
            <p:cNvPr id="18" name="Freeform 18"/>
            <p:cNvSpPr/>
            <p:nvPr/>
          </p:nvSpPr>
          <p:spPr>
            <a:xfrm rot="-5400000">
              <a:off x="-748935" y="748935"/>
              <a:ext cx="3017687" cy="1519817"/>
            </a:xfrm>
            <a:custGeom>
              <a:avLst/>
              <a:gdLst/>
              <a:ahLst/>
              <a:cxnLst/>
              <a:rect l="l" t="t" r="r" b="b"/>
              <a:pathLst>
                <a:path w="3017687" h="1519817">
                  <a:moveTo>
                    <a:pt x="0" y="0"/>
                  </a:moveTo>
                  <a:lnTo>
                    <a:pt x="3017687" y="0"/>
                  </a:lnTo>
                  <a:lnTo>
                    <a:pt x="3017687" y="1519817"/>
                  </a:lnTo>
                  <a:lnTo>
                    <a:pt x="0" y="1519817"/>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9" name="Freeform 19"/>
            <p:cNvSpPr/>
            <p:nvPr/>
          </p:nvSpPr>
          <p:spPr>
            <a:xfrm rot="5478197">
              <a:off x="757973" y="771700"/>
              <a:ext cx="2965326" cy="1493446"/>
            </a:xfrm>
            <a:custGeom>
              <a:avLst/>
              <a:gdLst/>
              <a:ahLst/>
              <a:cxnLst/>
              <a:rect l="l" t="t" r="r" b="b"/>
              <a:pathLst>
                <a:path w="2965326" h="1493446">
                  <a:moveTo>
                    <a:pt x="0" y="0"/>
                  </a:moveTo>
                  <a:lnTo>
                    <a:pt x="2965326" y="0"/>
                  </a:lnTo>
                  <a:lnTo>
                    <a:pt x="2965326" y="1493446"/>
                  </a:lnTo>
                  <a:lnTo>
                    <a:pt x="0" y="1493446"/>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TextBox 3"/>
          <p:cNvSpPr txBox="1"/>
          <p:nvPr/>
        </p:nvSpPr>
        <p:spPr>
          <a:xfrm>
            <a:off x="5583168" y="-9525"/>
            <a:ext cx="9159493" cy="1017386"/>
          </a:xfrm>
          <a:prstGeom prst="rect">
            <a:avLst/>
          </a:prstGeom>
        </p:spPr>
        <p:txBody>
          <a:bodyPr lIns="0" tIns="0" rIns="0" bIns="0" rtlCol="0" anchor="t">
            <a:spAutoFit/>
          </a:bodyPr>
          <a:lstStyle/>
          <a:p>
            <a:pPr algn="l">
              <a:lnSpc>
                <a:spcPts val="7942"/>
              </a:lnSpc>
            </a:pPr>
            <a:r>
              <a:rPr lang="en-US" sz="6619" u="sng">
                <a:solidFill>
                  <a:srgbClr val="000000"/>
                </a:solidFill>
                <a:latin typeface="Archivo Black"/>
                <a:ea typeface="Archivo Black"/>
                <a:cs typeface="Archivo Black"/>
                <a:sym typeface="Archivo Black"/>
              </a:rPr>
              <a:t>“Conclusion”</a:t>
            </a:r>
          </a:p>
        </p:txBody>
      </p:sp>
      <p:sp>
        <p:nvSpPr>
          <p:cNvPr id="5" name="TextBox 5"/>
          <p:cNvSpPr txBox="1"/>
          <p:nvPr/>
        </p:nvSpPr>
        <p:spPr>
          <a:xfrm>
            <a:off x="5080982" y="2239715"/>
            <a:ext cx="7415818" cy="5769469"/>
          </a:xfrm>
          <a:prstGeom prst="rect">
            <a:avLst/>
          </a:prstGeom>
        </p:spPr>
        <p:txBody>
          <a:bodyPr lIns="0" tIns="0" rIns="0" bIns="0" rtlCol="0" anchor="t">
            <a:spAutoFit/>
          </a:bodyPr>
          <a:lstStyle/>
          <a:p>
            <a:pPr algn="ctr">
              <a:lnSpc>
                <a:spcPts val="4960"/>
              </a:lnSpc>
              <a:spcBef>
                <a:spcPct val="0"/>
              </a:spcBef>
            </a:pPr>
            <a:r>
              <a:rPr lang="en-US" sz="3815" b="1" i="1" u="sng" dirty="0">
                <a:solidFill>
                  <a:srgbClr val="000000"/>
                </a:solidFill>
                <a:latin typeface="Garet Bold Italics"/>
                <a:ea typeface="Garet Bold Italics"/>
                <a:cs typeface="Garet Bold Italics"/>
                <a:sym typeface="Garet Bold Italics"/>
              </a:rPr>
              <a:t>Observations</a:t>
            </a:r>
          </a:p>
          <a:p>
            <a:pPr algn="ctr">
              <a:lnSpc>
                <a:spcPts val="3444"/>
              </a:lnSpc>
              <a:spcBef>
                <a:spcPct val="0"/>
              </a:spcBef>
            </a:pPr>
            <a:endParaRPr lang="en-US" sz="3815" b="1" i="1" u="sng" dirty="0">
              <a:solidFill>
                <a:srgbClr val="000000"/>
              </a:solidFill>
              <a:latin typeface="Garet Bold Italics"/>
              <a:ea typeface="Garet Bold Italics"/>
              <a:cs typeface="Garet Bold Italics"/>
              <a:sym typeface="Garet Bold Italics"/>
            </a:endParaRPr>
          </a:p>
          <a:p>
            <a:pPr algn="ctr">
              <a:lnSpc>
                <a:spcPts val="3444"/>
              </a:lnSpc>
              <a:spcBef>
                <a:spcPct val="0"/>
              </a:spcBef>
            </a:pPr>
            <a:endParaRPr lang="en-US" sz="3815" b="1" i="1" u="sng" dirty="0">
              <a:solidFill>
                <a:srgbClr val="000000"/>
              </a:solidFill>
              <a:latin typeface="Garet Bold Italics"/>
              <a:ea typeface="Garet Bold Italics"/>
              <a:cs typeface="Garet Bold Italics"/>
              <a:sym typeface="Garet Bold Italics"/>
            </a:endParaRPr>
          </a:p>
          <a:p>
            <a:pPr algn="ctr">
              <a:lnSpc>
                <a:spcPts val="3444"/>
              </a:lnSpc>
              <a:spcBef>
                <a:spcPct val="0"/>
              </a:spcBef>
            </a:pPr>
            <a:r>
              <a:rPr lang="en-US" sz="2649" b="1" i="1" u="sng" dirty="0">
                <a:solidFill>
                  <a:srgbClr val="000000"/>
                </a:solidFill>
                <a:latin typeface="Garet Bold Italics"/>
                <a:ea typeface="Garet Bold Italics"/>
                <a:cs typeface="Garet Bold Italics"/>
                <a:sym typeface="Garet Bold Italics"/>
              </a:rPr>
              <a:t>→Execution Time Analysis:</a:t>
            </a:r>
          </a:p>
          <a:p>
            <a:pPr algn="ctr">
              <a:lnSpc>
                <a:spcPts val="3444"/>
              </a:lnSpc>
              <a:spcBef>
                <a:spcPct val="0"/>
              </a:spcBef>
            </a:pPr>
            <a:endParaRPr lang="en-US" sz="2649" b="1" i="1" u="sng" dirty="0">
              <a:solidFill>
                <a:srgbClr val="000000"/>
              </a:solidFill>
              <a:latin typeface="Garet Bold Italics"/>
              <a:ea typeface="Garet Bold Italics"/>
              <a:cs typeface="Garet Bold Italics"/>
              <a:sym typeface="Garet Bold Italics"/>
            </a:endParaRPr>
          </a:p>
          <a:p>
            <a:pPr algn="ctr">
              <a:lnSpc>
                <a:spcPts val="3444"/>
              </a:lnSpc>
              <a:spcBef>
                <a:spcPct val="0"/>
              </a:spcBef>
            </a:pPr>
            <a:r>
              <a:rPr lang="en-US" sz="2649" dirty="0">
                <a:solidFill>
                  <a:srgbClr val="000000"/>
                </a:solidFill>
                <a:latin typeface="Garet"/>
                <a:ea typeface="Garet"/>
                <a:cs typeface="Garet"/>
                <a:sym typeface="Garet"/>
              </a:rPr>
              <a:t>    1. Increases quadratically with n.</a:t>
            </a:r>
          </a:p>
          <a:p>
            <a:pPr algn="ctr">
              <a:lnSpc>
                <a:spcPts val="3444"/>
              </a:lnSpc>
              <a:spcBef>
                <a:spcPct val="0"/>
              </a:spcBef>
            </a:pPr>
            <a:r>
              <a:rPr lang="en-US" sz="2649" dirty="0">
                <a:solidFill>
                  <a:srgbClr val="000000"/>
                </a:solidFill>
                <a:latin typeface="Garet"/>
                <a:ea typeface="Garet"/>
                <a:cs typeface="Garet"/>
                <a:sym typeface="Garet"/>
              </a:rPr>
              <a:t>        2. Degree computations dominate run-time.</a:t>
            </a:r>
          </a:p>
          <a:p>
            <a:pPr algn="ctr">
              <a:lnSpc>
                <a:spcPts val="3444"/>
              </a:lnSpc>
              <a:spcBef>
                <a:spcPct val="0"/>
              </a:spcBef>
            </a:pPr>
            <a:endParaRPr lang="en-US" sz="2649" dirty="0">
              <a:solidFill>
                <a:srgbClr val="000000"/>
              </a:solidFill>
              <a:latin typeface="Garet"/>
              <a:ea typeface="Garet"/>
              <a:cs typeface="Garet"/>
              <a:sym typeface="Garet"/>
            </a:endParaRPr>
          </a:p>
          <a:p>
            <a:pPr algn="ctr">
              <a:lnSpc>
                <a:spcPts val="3444"/>
              </a:lnSpc>
              <a:spcBef>
                <a:spcPct val="0"/>
              </a:spcBef>
            </a:pPr>
            <a:r>
              <a:rPr lang="en-US" sz="2649" b="1" i="1" u="sng" dirty="0">
                <a:solidFill>
                  <a:srgbClr val="000000"/>
                </a:solidFill>
                <a:latin typeface="Garet Bold Italics"/>
                <a:ea typeface="Garet Bold Italics"/>
                <a:cs typeface="Garet Bold Italics"/>
                <a:sym typeface="Garet Bold Italics"/>
              </a:rPr>
              <a:t>→Accuracy:</a:t>
            </a:r>
          </a:p>
          <a:p>
            <a:pPr algn="ctr">
              <a:lnSpc>
                <a:spcPts val="3444"/>
              </a:lnSpc>
              <a:spcBef>
                <a:spcPct val="0"/>
              </a:spcBef>
            </a:pPr>
            <a:endParaRPr lang="en-US" sz="2649" b="1" i="1" u="sng" dirty="0">
              <a:solidFill>
                <a:srgbClr val="000000"/>
              </a:solidFill>
              <a:latin typeface="Garet Bold Italics"/>
              <a:ea typeface="Garet Bold Italics"/>
              <a:cs typeface="Garet Bold Italics"/>
              <a:sym typeface="Garet Bold Italics"/>
            </a:endParaRPr>
          </a:p>
          <a:p>
            <a:pPr algn="ctr">
              <a:lnSpc>
                <a:spcPts val="3444"/>
              </a:lnSpc>
              <a:spcBef>
                <a:spcPct val="0"/>
              </a:spcBef>
            </a:pPr>
            <a:r>
              <a:rPr lang="en-US" sz="2649" dirty="0">
                <a:solidFill>
                  <a:srgbClr val="000000"/>
                </a:solidFill>
                <a:latin typeface="Garet"/>
                <a:ea typeface="Garet"/>
                <a:cs typeface="Garet"/>
                <a:sym typeface="Garet"/>
              </a:rPr>
              <a:t>Consistency between theoretical and empirical complexity.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en-US"/>
          </a:p>
        </p:txBody>
      </p:sp>
      <p:sp>
        <p:nvSpPr>
          <p:cNvPr id="3" name="Freeform 3"/>
          <p:cNvSpPr/>
          <p:nvPr/>
        </p:nvSpPr>
        <p:spPr>
          <a:xfrm rot="-7750735">
            <a:off x="12978795" y="4634797"/>
            <a:ext cx="6521215" cy="10276986"/>
          </a:xfrm>
          <a:custGeom>
            <a:avLst/>
            <a:gdLst/>
            <a:ahLst/>
            <a:cxnLst/>
            <a:rect l="l" t="t" r="r" b="b"/>
            <a:pathLst>
              <a:path w="6521215" h="10276986">
                <a:moveTo>
                  <a:pt x="0" y="0"/>
                </a:moveTo>
                <a:lnTo>
                  <a:pt x="6521214" y="0"/>
                </a:lnTo>
                <a:lnTo>
                  <a:pt x="6521214" y="10276985"/>
                </a:lnTo>
                <a:lnTo>
                  <a:pt x="0" y="10276985"/>
                </a:lnTo>
                <a:lnTo>
                  <a:pt x="0" y="0"/>
                </a:lnTo>
                <a:close/>
              </a:path>
            </a:pathLst>
          </a:custGeom>
          <a:blipFill>
            <a:blip r:embed="rId3">
              <a:alphaModFix amt="36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rot="8429032">
            <a:off x="-2323632" y="4039112"/>
            <a:ext cx="5688368" cy="8964477"/>
          </a:xfrm>
          <a:custGeom>
            <a:avLst/>
            <a:gdLst/>
            <a:ahLst/>
            <a:cxnLst/>
            <a:rect l="l" t="t" r="r" b="b"/>
            <a:pathLst>
              <a:path w="5688368" h="8964477">
                <a:moveTo>
                  <a:pt x="0" y="0"/>
                </a:moveTo>
                <a:lnTo>
                  <a:pt x="5688368" y="0"/>
                </a:lnTo>
                <a:lnTo>
                  <a:pt x="5688368" y="8964476"/>
                </a:lnTo>
                <a:lnTo>
                  <a:pt x="0" y="8964476"/>
                </a:lnTo>
                <a:lnTo>
                  <a:pt x="0" y="0"/>
                </a:lnTo>
                <a:close/>
              </a:path>
            </a:pathLst>
          </a:custGeom>
          <a:blipFill>
            <a:blip r:embed="rId3">
              <a:alphaModFix amt="36000"/>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5" name="Group 5"/>
          <p:cNvGrpSpPr/>
          <p:nvPr/>
        </p:nvGrpSpPr>
        <p:grpSpPr>
          <a:xfrm>
            <a:off x="16799231" y="8744693"/>
            <a:ext cx="2265666" cy="2263265"/>
            <a:chOff x="0" y="0"/>
            <a:chExt cx="3020888" cy="3017687"/>
          </a:xfrm>
        </p:grpSpPr>
        <p:sp>
          <p:nvSpPr>
            <p:cNvPr id="6" name="Freeform 6"/>
            <p:cNvSpPr/>
            <p:nvPr/>
          </p:nvSpPr>
          <p:spPr>
            <a:xfrm rot="-5400000">
              <a:off x="-748935" y="748935"/>
              <a:ext cx="3017687" cy="1519817"/>
            </a:xfrm>
            <a:custGeom>
              <a:avLst/>
              <a:gdLst/>
              <a:ahLst/>
              <a:cxnLst/>
              <a:rect l="l" t="t" r="r" b="b"/>
              <a:pathLst>
                <a:path w="3017687" h="1519817">
                  <a:moveTo>
                    <a:pt x="0" y="0"/>
                  </a:moveTo>
                  <a:lnTo>
                    <a:pt x="3017687" y="0"/>
                  </a:lnTo>
                  <a:lnTo>
                    <a:pt x="3017687" y="1519817"/>
                  </a:lnTo>
                  <a:lnTo>
                    <a:pt x="0" y="1519817"/>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Freeform 7"/>
            <p:cNvSpPr/>
            <p:nvPr/>
          </p:nvSpPr>
          <p:spPr>
            <a:xfrm rot="5478197">
              <a:off x="757973" y="771700"/>
              <a:ext cx="2965326" cy="1493446"/>
            </a:xfrm>
            <a:custGeom>
              <a:avLst/>
              <a:gdLst/>
              <a:ahLst/>
              <a:cxnLst/>
              <a:rect l="l" t="t" r="r" b="b"/>
              <a:pathLst>
                <a:path w="2965326" h="1493446">
                  <a:moveTo>
                    <a:pt x="0" y="0"/>
                  </a:moveTo>
                  <a:lnTo>
                    <a:pt x="2965326" y="0"/>
                  </a:lnTo>
                  <a:lnTo>
                    <a:pt x="2965326" y="1493446"/>
                  </a:lnTo>
                  <a:lnTo>
                    <a:pt x="0" y="1493446"/>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grpSp>
      <p:grpSp>
        <p:nvGrpSpPr>
          <p:cNvPr id="8" name="Group 8"/>
          <p:cNvGrpSpPr/>
          <p:nvPr/>
        </p:nvGrpSpPr>
        <p:grpSpPr>
          <a:xfrm>
            <a:off x="15768741" y="-1131632"/>
            <a:ext cx="2265666" cy="2263265"/>
            <a:chOff x="0" y="0"/>
            <a:chExt cx="3020888" cy="3017687"/>
          </a:xfrm>
        </p:grpSpPr>
        <p:sp>
          <p:nvSpPr>
            <p:cNvPr id="9" name="Freeform 9"/>
            <p:cNvSpPr/>
            <p:nvPr/>
          </p:nvSpPr>
          <p:spPr>
            <a:xfrm rot="-5400000">
              <a:off x="-748935" y="748935"/>
              <a:ext cx="3017687" cy="1519817"/>
            </a:xfrm>
            <a:custGeom>
              <a:avLst/>
              <a:gdLst/>
              <a:ahLst/>
              <a:cxnLst/>
              <a:rect l="l" t="t" r="r" b="b"/>
              <a:pathLst>
                <a:path w="3017687" h="1519817">
                  <a:moveTo>
                    <a:pt x="0" y="0"/>
                  </a:moveTo>
                  <a:lnTo>
                    <a:pt x="3017687" y="0"/>
                  </a:lnTo>
                  <a:lnTo>
                    <a:pt x="3017687" y="1519817"/>
                  </a:lnTo>
                  <a:lnTo>
                    <a:pt x="0" y="1519817"/>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Freeform 10"/>
            <p:cNvSpPr/>
            <p:nvPr/>
          </p:nvSpPr>
          <p:spPr>
            <a:xfrm rot="5478197">
              <a:off x="757973" y="771700"/>
              <a:ext cx="2965326" cy="1493446"/>
            </a:xfrm>
            <a:custGeom>
              <a:avLst/>
              <a:gdLst/>
              <a:ahLst/>
              <a:cxnLst/>
              <a:rect l="l" t="t" r="r" b="b"/>
              <a:pathLst>
                <a:path w="2965326" h="1493446">
                  <a:moveTo>
                    <a:pt x="0" y="0"/>
                  </a:moveTo>
                  <a:lnTo>
                    <a:pt x="2965326" y="0"/>
                  </a:lnTo>
                  <a:lnTo>
                    <a:pt x="2965326" y="1493446"/>
                  </a:lnTo>
                  <a:lnTo>
                    <a:pt x="0" y="1493446"/>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grpSp>
      <p:grpSp>
        <p:nvGrpSpPr>
          <p:cNvPr id="11" name="Group 11"/>
          <p:cNvGrpSpPr/>
          <p:nvPr/>
        </p:nvGrpSpPr>
        <p:grpSpPr>
          <a:xfrm>
            <a:off x="-1362497" y="-643602"/>
            <a:ext cx="2265666" cy="2263265"/>
            <a:chOff x="0" y="0"/>
            <a:chExt cx="3020888" cy="3017687"/>
          </a:xfrm>
        </p:grpSpPr>
        <p:sp>
          <p:nvSpPr>
            <p:cNvPr id="12" name="Freeform 12"/>
            <p:cNvSpPr/>
            <p:nvPr/>
          </p:nvSpPr>
          <p:spPr>
            <a:xfrm rot="-5400000">
              <a:off x="-748935" y="748935"/>
              <a:ext cx="3017687" cy="1519817"/>
            </a:xfrm>
            <a:custGeom>
              <a:avLst/>
              <a:gdLst/>
              <a:ahLst/>
              <a:cxnLst/>
              <a:rect l="l" t="t" r="r" b="b"/>
              <a:pathLst>
                <a:path w="3017687" h="1519817">
                  <a:moveTo>
                    <a:pt x="0" y="0"/>
                  </a:moveTo>
                  <a:lnTo>
                    <a:pt x="3017687" y="0"/>
                  </a:lnTo>
                  <a:lnTo>
                    <a:pt x="3017687" y="1519817"/>
                  </a:lnTo>
                  <a:lnTo>
                    <a:pt x="0" y="1519817"/>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3" name="Freeform 13"/>
            <p:cNvSpPr/>
            <p:nvPr/>
          </p:nvSpPr>
          <p:spPr>
            <a:xfrm rot="5478197">
              <a:off x="757973" y="771700"/>
              <a:ext cx="2965326" cy="1493446"/>
            </a:xfrm>
            <a:custGeom>
              <a:avLst/>
              <a:gdLst/>
              <a:ahLst/>
              <a:cxnLst/>
              <a:rect l="l" t="t" r="r" b="b"/>
              <a:pathLst>
                <a:path w="2965326" h="1493446">
                  <a:moveTo>
                    <a:pt x="0" y="0"/>
                  </a:moveTo>
                  <a:lnTo>
                    <a:pt x="2965326" y="0"/>
                  </a:lnTo>
                  <a:lnTo>
                    <a:pt x="2965326" y="1493446"/>
                  </a:lnTo>
                  <a:lnTo>
                    <a:pt x="0" y="1493446"/>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grpSp>
      <p:grpSp>
        <p:nvGrpSpPr>
          <p:cNvPr id="14" name="Group 14"/>
          <p:cNvGrpSpPr/>
          <p:nvPr/>
        </p:nvGrpSpPr>
        <p:grpSpPr>
          <a:xfrm>
            <a:off x="16799231" y="-643602"/>
            <a:ext cx="2265666" cy="2263265"/>
            <a:chOff x="0" y="0"/>
            <a:chExt cx="3020888" cy="3017687"/>
          </a:xfrm>
        </p:grpSpPr>
        <p:sp>
          <p:nvSpPr>
            <p:cNvPr id="15" name="Freeform 15"/>
            <p:cNvSpPr/>
            <p:nvPr/>
          </p:nvSpPr>
          <p:spPr>
            <a:xfrm rot="-5400000">
              <a:off x="-748935" y="748935"/>
              <a:ext cx="3017687" cy="1519817"/>
            </a:xfrm>
            <a:custGeom>
              <a:avLst/>
              <a:gdLst/>
              <a:ahLst/>
              <a:cxnLst/>
              <a:rect l="l" t="t" r="r" b="b"/>
              <a:pathLst>
                <a:path w="3017687" h="1519817">
                  <a:moveTo>
                    <a:pt x="0" y="0"/>
                  </a:moveTo>
                  <a:lnTo>
                    <a:pt x="3017687" y="0"/>
                  </a:lnTo>
                  <a:lnTo>
                    <a:pt x="3017687" y="1519817"/>
                  </a:lnTo>
                  <a:lnTo>
                    <a:pt x="0" y="1519817"/>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6" name="Freeform 16"/>
            <p:cNvSpPr/>
            <p:nvPr/>
          </p:nvSpPr>
          <p:spPr>
            <a:xfrm rot="5478197">
              <a:off x="757973" y="771700"/>
              <a:ext cx="2965326" cy="1493446"/>
            </a:xfrm>
            <a:custGeom>
              <a:avLst/>
              <a:gdLst/>
              <a:ahLst/>
              <a:cxnLst/>
              <a:rect l="l" t="t" r="r" b="b"/>
              <a:pathLst>
                <a:path w="2965326" h="1493446">
                  <a:moveTo>
                    <a:pt x="0" y="0"/>
                  </a:moveTo>
                  <a:lnTo>
                    <a:pt x="2965326" y="0"/>
                  </a:lnTo>
                  <a:lnTo>
                    <a:pt x="2965326" y="1493446"/>
                  </a:lnTo>
                  <a:lnTo>
                    <a:pt x="0" y="1493446"/>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grpSp>
      <p:grpSp>
        <p:nvGrpSpPr>
          <p:cNvPr id="17" name="Group 17"/>
          <p:cNvGrpSpPr/>
          <p:nvPr/>
        </p:nvGrpSpPr>
        <p:grpSpPr>
          <a:xfrm>
            <a:off x="2010" y="6641457"/>
            <a:ext cx="2265666" cy="2263265"/>
            <a:chOff x="0" y="0"/>
            <a:chExt cx="3020888" cy="3017687"/>
          </a:xfrm>
        </p:grpSpPr>
        <p:sp>
          <p:nvSpPr>
            <p:cNvPr id="18" name="Freeform 18"/>
            <p:cNvSpPr/>
            <p:nvPr/>
          </p:nvSpPr>
          <p:spPr>
            <a:xfrm rot="-5400000">
              <a:off x="-748935" y="748935"/>
              <a:ext cx="3017687" cy="1519817"/>
            </a:xfrm>
            <a:custGeom>
              <a:avLst/>
              <a:gdLst/>
              <a:ahLst/>
              <a:cxnLst/>
              <a:rect l="l" t="t" r="r" b="b"/>
              <a:pathLst>
                <a:path w="3017687" h="1519817">
                  <a:moveTo>
                    <a:pt x="0" y="0"/>
                  </a:moveTo>
                  <a:lnTo>
                    <a:pt x="3017687" y="0"/>
                  </a:lnTo>
                  <a:lnTo>
                    <a:pt x="3017687" y="1519817"/>
                  </a:lnTo>
                  <a:lnTo>
                    <a:pt x="0" y="1519817"/>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9" name="Freeform 19"/>
            <p:cNvSpPr/>
            <p:nvPr/>
          </p:nvSpPr>
          <p:spPr>
            <a:xfrm rot="5478197">
              <a:off x="757973" y="771700"/>
              <a:ext cx="2965326" cy="1493446"/>
            </a:xfrm>
            <a:custGeom>
              <a:avLst/>
              <a:gdLst/>
              <a:ahLst/>
              <a:cxnLst/>
              <a:rect l="l" t="t" r="r" b="b"/>
              <a:pathLst>
                <a:path w="2965326" h="1493446">
                  <a:moveTo>
                    <a:pt x="0" y="0"/>
                  </a:moveTo>
                  <a:lnTo>
                    <a:pt x="2965326" y="0"/>
                  </a:lnTo>
                  <a:lnTo>
                    <a:pt x="2965326" y="1493446"/>
                  </a:lnTo>
                  <a:lnTo>
                    <a:pt x="0" y="1493446"/>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grpSp>
      <p:grpSp>
        <p:nvGrpSpPr>
          <p:cNvPr id="20" name="Group 20"/>
          <p:cNvGrpSpPr/>
          <p:nvPr/>
        </p:nvGrpSpPr>
        <p:grpSpPr>
          <a:xfrm>
            <a:off x="2739071" y="8023735"/>
            <a:ext cx="2265666" cy="2263265"/>
            <a:chOff x="0" y="0"/>
            <a:chExt cx="3020888" cy="3017687"/>
          </a:xfrm>
        </p:grpSpPr>
        <p:sp>
          <p:nvSpPr>
            <p:cNvPr id="21" name="Freeform 21"/>
            <p:cNvSpPr/>
            <p:nvPr/>
          </p:nvSpPr>
          <p:spPr>
            <a:xfrm rot="-5400000">
              <a:off x="-748935" y="748935"/>
              <a:ext cx="3017687" cy="1519817"/>
            </a:xfrm>
            <a:custGeom>
              <a:avLst/>
              <a:gdLst/>
              <a:ahLst/>
              <a:cxnLst/>
              <a:rect l="l" t="t" r="r" b="b"/>
              <a:pathLst>
                <a:path w="3017687" h="1519817">
                  <a:moveTo>
                    <a:pt x="0" y="0"/>
                  </a:moveTo>
                  <a:lnTo>
                    <a:pt x="3017687" y="0"/>
                  </a:lnTo>
                  <a:lnTo>
                    <a:pt x="3017687" y="1519817"/>
                  </a:lnTo>
                  <a:lnTo>
                    <a:pt x="0" y="1519817"/>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2" name="Freeform 22"/>
            <p:cNvSpPr/>
            <p:nvPr/>
          </p:nvSpPr>
          <p:spPr>
            <a:xfrm rot="5478197">
              <a:off x="757973" y="771700"/>
              <a:ext cx="2965326" cy="1493446"/>
            </a:xfrm>
            <a:custGeom>
              <a:avLst/>
              <a:gdLst/>
              <a:ahLst/>
              <a:cxnLst/>
              <a:rect l="l" t="t" r="r" b="b"/>
              <a:pathLst>
                <a:path w="2965326" h="1493446">
                  <a:moveTo>
                    <a:pt x="0" y="0"/>
                  </a:moveTo>
                  <a:lnTo>
                    <a:pt x="2965326" y="0"/>
                  </a:lnTo>
                  <a:lnTo>
                    <a:pt x="2965326" y="1493446"/>
                  </a:lnTo>
                  <a:lnTo>
                    <a:pt x="0" y="1493446"/>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grpSp>
      <p:grpSp>
        <p:nvGrpSpPr>
          <p:cNvPr id="23" name="Group 23"/>
          <p:cNvGrpSpPr/>
          <p:nvPr/>
        </p:nvGrpSpPr>
        <p:grpSpPr>
          <a:xfrm>
            <a:off x="-104133" y="-1131632"/>
            <a:ext cx="2265666" cy="2263265"/>
            <a:chOff x="0" y="0"/>
            <a:chExt cx="3020888" cy="3017687"/>
          </a:xfrm>
        </p:grpSpPr>
        <p:sp>
          <p:nvSpPr>
            <p:cNvPr id="24" name="Freeform 24"/>
            <p:cNvSpPr/>
            <p:nvPr/>
          </p:nvSpPr>
          <p:spPr>
            <a:xfrm rot="-5400000">
              <a:off x="-748935" y="748935"/>
              <a:ext cx="3017687" cy="1519817"/>
            </a:xfrm>
            <a:custGeom>
              <a:avLst/>
              <a:gdLst/>
              <a:ahLst/>
              <a:cxnLst/>
              <a:rect l="l" t="t" r="r" b="b"/>
              <a:pathLst>
                <a:path w="3017687" h="1519817">
                  <a:moveTo>
                    <a:pt x="0" y="0"/>
                  </a:moveTo>
                  <a:lnTo>
                    <a:pt x="3017687" y="0"/>
                  </a:lnTo>
                  <a:lnTo>
                    <a:pt x="3017687" y="1519817"/>
                  </a:lnTo>
                  <a:lnTo>
                    <a:pt x="0" y="1519817"/>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5" name="Freeform 25"/>
            <p:cNvSpPr/>
            <p:nvPr/>
          </p:nvSpPr>
          <p:spPr>
            <a:xfrm rot="5478197">
              <a:off x="757973" y="771700"/>
              <a:ext cx="2965326" cy="1493446"/>
            </a:xfrm>
            <a:custGeom>
              <a:avLst/>
              <a:gdLst/>
              <a:ahLst/>
              <a:cxnLst/>
              <a:rect l="l" t="t" r="r" b="b"/>
              <a:pathLst>
                <a:path w="2965326" h="1493446">
                  <a:moveTo>
                    <a:pt x="0" y="0"/>
                  </a:moveTo>
                  <a:lnTo>
                    <a:pt x="2965326" y="0"/>
                  </a:lnTo>
                  <a:lnTo>
                    <a:pt x="2965326" y="1493446"/>
                  </a:lnTo>
                  <a:lnTo>
                    <a:pt x="0" y="1493446"/>
                  </a:lnTo>
                  <a:lnTo>
                    <a:pt x="0" y="0"/>
                  </a:lnTo>
                  <a:close/>
                </a:path>
              </a:pathLst>
            </a:custGeom>
            <a:blipFill>
              <a:blip r:embed="rId5">
                <a:alphaModFix amt="31999"/>
                <a:extLst>
                  <a:ext uri="{96DAC541-7B7A-43D3-8B79-37D633B846F1}">
                    <asvg:svgBlip xmlns:asvg="http://schemas.microsoft.com/office/drawing/2016/SVG/main" r:embed="rId6"/>
                  </a:ext>
                </a:extLst>
              </a:blip>
              <a:stretch>
                <a:fillRect/>
              </a:stretch>
            </a:blipFill>
          </p:spPr>
          <p:txBody>
            <a:bodyPr/>
            <a:lstStyle/>
            <a:p>
              <a:endParaRPr lang="en-US"/>
            </a:p>
          </p:txBody>
        </p:sp>
      </p:grpSp>
      <p:sp>
        <p:nvSpPr>
          <p:cNvPr id="26" name="TextBox 26"/>
          <p:cNvSpPr txBox="1"/>
          <p:nvPr/>
        </p:nvSpPr>
        <p:spPr>
          <a:xfrm>
            <a:off x="3922337" y="3839206"/>
            <a:ext cx="10084280" cy="1609094"/>
          </a:xfrm>
          <a:prstGeom prst="rect">
            <a:avLst/>
          </a:prstGeom>
        </p:spPr>
        <p:txBody>
          <a:bodyPr lIns="0" tIns="0" rIns="0" bIns="0" rtlCol="0" anchor="t">
            <a:spAutoFit/>
          </a:bodyPr>
          <a:lstStyle/>
          <a:p>
            <a:pPr algn="l">
              <a:lnSpc>
                <a:spcPts val="12606"/>
              </a:lnSpc>
            </a:pPr>
            <a:r>
              <a:rPr lang="en-US" sz="10505" u="sng" dirty="0">
                <a:solidFill>
                  <a:srgbClr val="000000"/>
                </a:solidFill>
                <a:latin typeface="Archivo Black"/>
                <a:ea typeface="Archivo Black"/>
                <a:cs typeface="Archivo Black"/>
                <a:sym typeface="Archivo Black"/>
              </a:rPr>
              <a:t>“Thank You!”</a:t>
            </a:r>
          </a:p>
        </p:txBody>
      </p:sp>
      <p:sp>
        <p:nvSpPr>
          <p:cNvPr id="32" name="TextBox 31">
            <a:extLst>
              <a:ext uri="{FF2B5EF4-FFF2-40B4-BE49-F238E27FC236}">
                <a16:creationId xmlns:a16="http://schemas.microsoft.com/office/drawing/2014/main" id="{F57E383E-C047-BAD9-00E5-B04863E35A93}"/>
              </a:ext>
            </a:extLst>
          </p:cNvPr>
          <p:cNvSpPr txBox="1"/>
          <p:nvPr/>
        </p:nvSpPr>
        <p:spPr>
          <a:xfrm>
            <a:off x="-838200" y="6253691"/>
            <a:ext cx="13411200" cy="1252009"/>
          </a:xfrm>
          <a:prstGeom prst="rect">
            <a:avLst/>
          </a:prstGeom>
          <a:noFill/>
        </p:spPr>
        <p:txBody>
          <a:bodyPr wrap="square">
            <a:spAutoFit/>
          </a:bodyPr>
          <a:lstStyle/>
          <a:p>
            <a:pPr marL="0" lvl="0" indent="0" algn="r">
              <a:lnSpc>
                <a:spcPts val="8490"/>
              </a:lnSpc>
              <a:spcBef>
                <a:spcPct val="0"/>
              </a:spcBef>
            </a:pPr>
            <a:r>
              <a:rPr lang="en-US" sz="8800" spc="-859" dirty="0">
                <a:solidFill>
                  <a:srgbClr val="000000"/>
                </a:solidFill>
                <a:latin typeface="Archivo Black"/>
                <a:ea typeface="Archivo Black"/>
                <a:cs typeface="Archivo Black"/>
                <a:sym typeface="Archivo Black"/>
              </a:rPr>
              <a:t>Team Scorpion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Directed graph</Template>
  <TotalTime>1</TotalTime>
  <Words>743</Words>
  <Application>Microsoft Office PowerPoint</Application>
  <PresentationFormat>Custom</PresentationFormat>
  <Paragraphs>144</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Archivo Black</vt:lpstr>
      <vt:lpstr>Garet Bold</vt:lpstr>
      <vt:lpstr>Garet Bold Italics</vt:lpstr>
      <vt:lpstr>Garet</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Ariful Haque</dc:creator>
  <cp:lastModifiedBy>Md. Ariful Haque</cp:lastModifiedBy>
  <cp:revision>2</cp:revision>
  <dcterms:created xsi:type="dcterms:W3CDTF">2025-01-31T18:46:42Z</dcterms:created>
  <dcterms:modified xsi:type="dcterms:W3CDTF">2025-01-31T20:33:35Z</dcterms:modified>
  <dc:identifier>DAGcXY8cQ6o</dc:identifier>
</cp:coreProperties>
</file>